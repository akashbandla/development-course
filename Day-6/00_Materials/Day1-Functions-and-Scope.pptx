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61B22"/>
          </a:solidFill>
          <a:ln/>
        </p:spPr>
      </p:sp>
      <p:sp>
        <p:nvSpPr>
          <p:cNvPr id="3" name="Shape 1"/>
          <p:cNvSpPr/>
          <p:nvPr/>
        </p:nvSpPr>
        <p:spPr>
          <a:xfrm>
            <a:off x="9692640" y="-1280160"/>
            <a:ext cx="4114800" cy="4114800"/>
          </a:xfrm>
          <a:prstGeom prst="ellipse">
            <a:avLst/>
          </a:prstGeom>
          <a:solidFill>
            <a:srgbClr val="1F2530"/>
          </a:solidFill>
          <a:ln/>
        </p:spPr>
      </p:sp>
      <p:sp>
        <p:nvSpPr>
          <p:cNvPr id="4" name="Text 2"/>
          <p:cNvSpPr/>
          <p:nvPr/>
        </p:nvSpPr>
        <p:spPr>
          <a:xfrm>
            <a:off x="640080" y="502920"/>
            <a:ext cx="1828800" cy="914400"/>
          </a:xfrm>
          <a:prstGeom prst="rect">
            <a:avLst/>
          </a:prstGeom>
          <a:noFill/>
          <a:ln/>
        </p:spPr>
        <p:txBody>
          <a:bodyPr wrap="square" lIns="0" tIns="0" rIns="0" bIns="0" rtlCol="0" anchor="ctr"/>
          <a:lstStyle/>
          <a:p>
            <a:pPr indent="0" marL="0">
              <a:buNone/>
            </a:pPr>
            <a:r>
              <a:rPr lang="en-US" sz="3400" b="1" dirty="0">
                <a:solidFill>
                  <a:srgbClr val="F0DB4F"/>
                </a:solidFill>
                <a:latin typeface="Courier New" pitchFamily="34" charset="0"/>
                <a:ea typeface="Courier New" pitchFamily="34" charset="-122"/>
                <a:cs typeface="Courier New" pitchFamily="34" charset="-120"/>
              </a:rPr>
              <a:t>{ }</a:t>
            </a:r>
            <a:endParaRPr lang="en-US" sz="3400" dirty="0"/>
          </a:p>
        </p:txBody>
      </p:sp>
      <p:sp>
        <p:nvSpPr>
          <p:cNvPr id="5" name="Text 3"/>
          <p:cNvSpPr/>
          <p:nvPr/>
        </p:nvSpPr>
        <p:spPr>
          <a:xfrm>
            <a:off x="640080" y="2331720"/>
            <a:ext cx="9144000" cy="457200"/>
          </a:xfrm>
          <a:prstGeom prst="rect">
            <a:avLst/>
          </a:prstGeom>
          <a:noFill/>
          <a:ln/>
        </p:spPr>
        <p:txBody>
          <a:bodyPr wrap="square" lIns="0" tIns="0" rIns="0" bIns="0" rtlCol="0" anchor="ctr"/>
          <a:lstStyle/>
          <a:p>
            <a:pPr indent="0" marL="0">
              <a:buNone/>
            </a:pPr>
            <a:r>
              <a:rPr lang="en-US" sz="1500" b="1" spc="300" kern="0" dirty="0">
                <a:solidFill>
                  <a:srgbClr val="F0DB4F"/>
                </a:solidFill>
                <a:latin typeface="Calibri" pitchFamily="34" charset="0"/>
                <a:ea typeface="Calibri" pitchFamily="34" charset="-122"/>
                <a:cs typeface="Calibri" pitchFamily="34" charset="-120"/>
              </a:rPr>
              <a:t>ADVANCED JAVASCRIPT · 6-DAY COURSE</a:t>
            </a:r>
            <a:endParaRPr lang="en-US" sz="1500" dirty="0"/>
          </a:p>
        </p:txBody>
      </p:sp>
      <p:sp>
        <p:nvSpPr>
          <p:cNvPr id="6" name="Text 4"/>
          <p:cNvSpPr/>
          <p:nvPr/>
        </p:nvSpPr>
        <p:spPr>
          <a:xfrm>
            <a:off x="640080" y="2743200"/>
            <a:ext cx="10058400" cy="1005840"/>
          </a:xfrm>
          <a:prstGeom prst="rect">
            <a:avLst/>
          </a:prstGeom>
          <a:noFill/>
          <a:ln/>
        </p:spPr>
        <p:txBody>
          <a:bodyPr wrap="square" lIns="0" tIns="0" rIns="0" bIns="0" rtlCol="0" anchor="ctr"/>
          <a:lstStyle/>
          <a:p>
            <a:pPr indent="0" marL="0">
              <a:buNone/>
            </a:pPr>
            <a:r>
              <a:rPr lang="en-US" sz="4200" b="1" dirty="0">
                <a:solidFill>
                  <a:srgbClr val="FFFFFF"/>
                </a:solidFill>
                <a:latin typeface="Century Schoolbook" pitchFamily="34" charset="0"/>
                <a:ea typeface="Century Schoolbook" pitchFamily="34" charset="-122"/>
                <a:cs typeface="Century Schoolbook" pitchFamily="34" charset="-120"/>
              </a:rPr>
              <a:t>Day 1: Functions &amp; Scope</a:t>
            </a:r>
            <a:endParaRPr lang="en-US" sz="4200" dirty="0"/>
          </a:p>
        </p:txBody>
      </p:sp>
      <p:sp>
        <p:nvSpPr>
          <p:cNvPr id="7" name="Text 5"/>
          <p:cNvSpPr/>
          <p:nvPr/>
        </p:nvSpPr>
        <p:spPr>
          <a:xfrm>
            <a:off x="640080" y="3611880"/>
            <a:ext cx="9144000" cy="457200"/>
          </a:xfrm>
          <a:prstGeom prst="rect">
            <a:avLst/>
          </a:prstGeom>
          <a:noFill/>
          <a:ln/>
        </p:spPr>
        <p:txBody>
          <a:bodyPr wrap="square" lIns="0" tIns="0" rIns="0" bIns="0" rtlCol="0" anchor="ctr"/>
          <a:lstStyle/>
          <a:p>
            <a:pPr indent="0" marL="0">
              <a:buNone/>
            </a:pPr>
            <a:r>
              <a:rPr lang="en-US" sz="1700" dirty="0">
                <a:solidFill>
                  <a:srgbClr val="C9CDD3"/>
                </a:solidFill>
                <a:latin typeface="Calibri" pitchFamily="34" charset="0"/>
                <a:ea typeface="Calibri" pitchFamily="34" charset="-122"/>
                <a:cs typeface="Calibri" pitchFamily="34" charset="-120"/>
              </a:rPr>
              <a:t>Definitions + two real-world examples for every concept</a:t>
            </a:r>
            <a:endParaRPr lang="en-US" sz="1700" dirty="0"/>
          </a:p>
        </p:txBody>
      </p:sp>
      <p:sp>
        <p:nvSpPr>
          <p:cNvPr id="8" name="Shape 6"/>
          <p:cNvSpPr/>
          <p:nvPr/>
        </p:nvSpPr>
        <p:spPr>
          <a:xfrm>
            <a:off x="640080" y="4297680"/>
            <a:ext cx="6949440" cy="1737360"/>
          </a:xfrm>
          <a:prstGeom prst="roundRect">
            <a:avLst>
              <a:gd name="adj" fmla="val 4211"/>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640080" y="4297680"/>
            <a:ext cx="6949440" cy="310896"/>
          </a:xfrm>
          <a:prstGeom prst="rect">
            <a:avLst/>
          </a:prstGeom>
          <a:solidFill>
            <a:srgbClr val="161B22"/>
          </a:solidFill>
          <a:ln/>
        </p:spPr>
      </p:sp>
      <p:sp>
        <p:nvSpPr>
          <p:cNvPr id="10" name="Shape 8"/>
          <p:cNvSpPr/>
          <p:nvPr/>
        </p:nvSpPr>
        <p:spPr>
          <a:xfrm>
            <a:off x="804672" y="4393692"/>
            <a:ext cx="118872" cy="118872"/>
          </a:xfrm>
          <a:prstGeom prst="ellipse">
            <a:avLst/>
          </a:prstGeom>
          <a:solidFill>
            <a:srgbClr val="E06C75"/>
          </a:solidFill>
          <a:ln/>
        </p:spPr>
      </p:sp>
      <p:sp>
        <p:nvSpPr>
          <p:cNvPr id="11" name="Shape 9"/>
          <p:cNvSpPr/>
          <p:nvPr/>
        </p:nvSpPr>
        <p:spPr>
          <a:xfrm>
            <a:off x="1005840" y="4393692"/>
            <a:ext cx="118872" cy="118872"/>
          </a:xfrm>
          <a:prstGeom prst="ellipse">
            <a:avLst/>
          </a:prstGeom>
          <a:solidFill>
            <a:srgbClr val="F0DB4F"/>
          </a:solidFill>
          <a:ln/>
        </p:spPr>
      </p:sp>
      <p:sp>
        <p:nvSpPr>
          <p:cNvPr id="12" name="Shape 10"/>
          <p:cNvSpPr/>
          <p:nvPr/>
        </p:nvSpPr>
        <p:spPr>
          <a:xfrm>
            <a:off x="1207008" y="4393692"/>
            <a:ext cx="118872" cy="118872"/>
          </a:xfrm>
          <a:prstGeom prst="ellipse">
            <a:avLst/>
          </a:prstGeom>
          <a:solidFill>
            <a:srgbClr val="27C93F"/>
          </a:solidFill>
          <a:ln/>
        </p:spPr>
      </p:sp>
      <p:sp>
        <p:nvSpPr>
          <p:cNvPr id="13" name="Text 11"/>
          <p:cNvSpPr/>
          <p:nvPr/>
        </p:nvSpPr>
        <p:spPr>
          <a:xfrm>
            <a:off x="1463040" y="4297680"/>
            <a:ext cx="594360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4" name="Text 12"/>
          <p:cNvSpPr/>
          <p:nvPr/>
        </p:nvSpPr>
        <p:spPr>
          <a:xfrm>
            <a:off x="868680" y="4718304"/>
            <a:ext cx="6492240" cy="1188720"/>
          </a:xfrm>
          <a:prstGeom prst="rect">
            <a:avLst/>
          </a:prstGeom>
          <a:noFill/>
          <a:ln/>
        </p:spPr>
        <p:txBody>
          <a:bodyPr wrap="square" lIns="0" tIns="0" rIns="0" bIns="0" rtlCol="0" anchor="t"/>
          <a:lstStyle/>
          <a:p>
            <a:pPr indent="0" marL="0">
              <a:lnSpc>
                <a:spcPct val="122000"/>
              </a:lnSpc>
              <a:buNone/>
            </a:pPr>
            <a:r>
              <a:rPr lang="en-US" sz="1400" i="1" dirty="0">
                <a:solidFill>
                  <a:srgbClr val="6E7681"/>
                </a:solidFill>
                <a:latin typeface="Courier New" pitchFamily="34" charset="0"/>
                <a:ea typeface="Courier New" pitchFamily="34" charset="-122"/>
                <a:cs typeface="Courier New" pitchFamily="34" charset="-120"/>
              </a:rPr>
              <a:t>// Run with: </a:t>
            </a:r>
            <a:pPr indent="0" marL="0">
              <a:lnSpc>
                <a:spcPct val="122000"/>
              </a:lnSpc>
              <a:buNone/>
            </a:pPr>
            <a:r>
              <a:rPr lang="en-US" sz="1400" i="1" dirty="0">
                <a:solidFill>
                  <a:srgbClr val="7EC699"/>
                </a:solidFill>
                <a:latin typeface="Courier New" pitchFamily="34" charset="0"/>
                <a:ea typeface="Courier New" pitchFamily="34" charset="-122"/>
                <a:cs typeface="Courier New" pitchFamily="34" charset="-120"/>
              </a:rPr>
              <a:t>node day1.js</a:t>
            </a:r>
            <a:endParaRPr lang="en-US" sz="1400" dirty="0"/>
          </a:p>
          <a:p>
            <a:pPr indent="0" marL="0">
              <a:lnSpc>
                <a:spcPct val="122000"/>
              </a:lnSpc>
              <a:buNone/>
            </a:pPr>
            <a:r>
              <a:rPr lang="en-US" sz="1400" dirty="0">
                <a:solidFill>
                  <a:srgbClr val="61AFEF"/>
                </a:solidFill>
                <a:latin typeface="Courier New" pitchFamily="34" charset="0"/>
                <a:ea typeface="Courier New" pitchFamily="34" charset="-122"/>
                <a:cs typeface="Courier New" pitchFamily="34" charset="-120"/>
              </a:rPr>
              <a:t>topics</a:t>
            </a:r>
            <a:pPr indent="0" marL="0">
              <a:lnSpc>
                <a:spcPct val="122000"/>
              </a:lnSpc>
              <a:buNone/>
            </a:pPr>
            <a:r>
              <a:rPr lang="en-US" sz="1400" dirty="0">
                <a:solidFill>
                  <a:srgbClr val="E6E6E6"/>
                </a:solidFill>
                <a:latin typeface="Courier New" pitchFamily="34" charset="0"/>
                <a:ea typeface="Courier New" pitchFamily="34" charset="-122"/>
                <a:cs typeface="Courier New" pitchFamily="34" charset="-120"/>
              </a:rPr>
              <a:t> = [</a:t>
            </a:r>
            <a:pPr indent="0" marL="0">
              <a:lnSpc>
                <a:spcPct val="122000"/>
              </a:lnSpc>
              <a:buNone/>
            </a:pPr>
            <a:r>
              <a:rPr lang="en-US" sz="1400" dirty="0">
                <a:solidFill>
                  <a:srgbClr val="7EC699"/>
                </a:solidFill>
                <a:latin typeface="Courier New" pitchFamily="34" charset="0"/>
                <a:ea typeface="Courier New" pitchFamily="34" charset="-122"/>
                <a:cs typeface="Courier New" pitchFamily="34" charset="-120"/>
              </a:rPr>
              <a:t>'functions'</a:t>
            </a:r>
            <a:pPr indent="0" marL="0">
              <a:lnSpc>
                <a:spcPct val="122000"/>
              </a:lnSpc>
              <a:buNone/>
            </a:pPr>
            <a:r>
              <a:rPr lang="en-US" sz="14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7EC699"/>
                </a:solidFill>
                <a:latin typeface="Courier New" pitchFamily="34" charset="0"/>
                <a:ea typeface="Courier New" pitchFamily="34" charset="-122"/>
                <a:cs typeface="Courier New" pitchFamily="34" charset="-120"/>
              </a:rPr>
              <a:t>'closures'</a:t>
            </a:r>
            <a:pPr indent="0" marL="0">
              <a:lnSpc>
                <a:spcPct val="122000"/>
              </a:lnSpc>
              <a:buNone/>
            </a:pPr>
            <a:r>
              <a:rPr lang="en-US" sz="14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7EC699"/>
                </a:solidFill>
                <a:latin typeface="Courier New" pitchFamily="34" charset="0"/>
                <a:ea typeface="Courier New" pitchFamily="34" charset="-122"/>
                <a:cs typeface="Courier New" pitchFamily="34" charset="-120"/>
              </a:rPr>
              <a:t>'IIFE'</a:t>
            </a:r>
            <a:pPr indent="0" marL="0">
              <a:lnSpc>
                <a:spcPct val="122000"/>
              </a:lnSpc>
              <a:buNone/>
            </a:pPr>
            <a:r>
              <a:rPr lang="en-US" sz="14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7EC699"/>
                </a:solidFill>
                <a:latin typeface="Courier New" pitchFamily="34" charset="0"/>
                <a:ea typeface="Courier New" pitchFamily="34" charset="-122"/>
                <a:cs typeface="Courier New" pitchFamily="34" charset="-120"/>
              </a:rPr>
              <a:t>'HOFs'</a:t>
            </a:r>
            <a:pPr indent="0" marL="0">
              <a:lnSpc>
                <a:spcPct val="122000"/>
              </a:lnSpc>
              <a:buNone/>
            </a:pPr>
            <a:r>
              <a:rPr lang="en-US" sz="1400" dirty="0">
                <a:solidFill>
                  <a:srgbClr val="E6E6E6"/>
                </a:solidFill>
                <a:latin typeface="Courier New" pitchFamily="34" charset="0"/>
                <a:ea typeface="Courier New" pitchFamily="34" charset="-122"/>
                <a:cs typeface="Courier New" pitchFamily="34" charset="-120"/>
              </a:rPr>
              <a:t>];</a:t>
            </a:r>
            <a:endParaRPr lang="en-US" sz="1400" dirty="0"/>
          </a:p>
        </p:txBody>
      </p:sp>
      <p:sp>
        <p:nvSpPr>
          <p:cNvPr id="15" name="Text 13"/>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DAY1-FUNCTIONS-AND-SCOPE/DAY1.JS</a:t>
            </a:r>
            <a:endParaRPr lang="en-US" sz="1300" dirty="0"/>
          </a:p>
        </p:txBody>
      </p:sp>
      <p:sp>
        <p:nvSpPr>
          <p:cNvPr id="3" name="Text 1"/>
          <p:cNvSpPr/>
          <p:nvPr/>
        </p:nvSpPr>
        <p:spPr>
          <a:xfrm>
            <a:off x="640080" y="777240"/>
            <a:ext cx="9144000" cy="640080"/>
          </a:xfrm>
          <a:prstGeom prst="rect">
            <a:avLst/>
          </a:prstGeom>
          <a:noFill/>
          <a:ln/>
        </p:spPr>
        <p:txBody>
          <a:bodyPr wrap="square" lIns="0" tIns="0" rIns="0" bIns="0" rtlCol="0" anchor="ctr"/>
          <a:lstStyle/>
          <a:p>
            <a:pPr indent="0" marL="0">
              <a:buNone/>
            </a:pPr>
            <a:r>
              <a:rPr lang="en-US" sz="3200" b="1" dirty="0">
                <a:solidFill>
                  <a:srgbClr val="1B1F24"/>
                </a:solidFill>
                <a:latin typeface="Century Schoolbook" pitchFamily="34" charset="0"/>
                <a:ea typeface="Century Schoolbook" pitchFamily="34" charset="-122"/>
                <a:cs typeface="Century Schoolbook" pitchFamily="34" charset="-120"/>
              </a:rPr>
              <a:t>Today's 5 concepts</a:t>
            </a:r>
            <a:endParaRPr lang="en-US" sz="3200" dirty="0"/>
          </a:p>
        </p:txBody>
      </p:sp>
      <p:sp>
        <p:nvSpPr>
          <p:cNvPr id="4" name="Shape 2"/>
          <p:cNvSpPr/>
          <p:nvPr/>
        </p:nvSpPr>
        <p:spPr>
          <a:xfrm>
            <a:off x="640080" y="1783080"/>
            <a:ext cx="10881360" cy="777240"/>
          </a:xfrm>
          <a:prstGeom prst="roundRect">
            <a:avLst>
              <a:gd name="adj" fmla="val 9412"/>
            </a:avLst>
          </a:prstGeom>
          <a:solidFill>
            <a:srgbClr val="FFFFFF"/>
          </a:solidFill>
          <a:ln w="12700">
            <a:solidFill>
              <a:srgbClr val="E3E5E8"/>
            </a:solidFill>
            <a:prstDash val="solid"/>
          </a:ln>
        </p:spPr>
      </p:sp>
      <p:sp>
        <p:nvSpPr>
          <p:cNvPr id="5" name="Shape 3"/>
          <p:cNvSpPr/>
          <p:nvPr/>
        </p:nvSpPr>
        <p:spPr>
          <a:xfrm>
            <a:off x="868680" y="1938528"/>
            <a:ext cx="777240" cy="457200"/>
          </a:xfrm>
          <a:prstGeom prst="roundRect">
            <a:avLst>
              <a:gd name="adj" fmla="val 50000"/>
            </a:avLst>
          </a:prstGeom>
          <a:solidFill>
            <a:srgbClr val="61AFEF"/>
          </a:solidFill>
          <a:ln/>
        </p:spPr>
      </p:sp>
      <p:sp>
        <p:nvSpPr>
          <p:cNvPr id="6" name="Text 4"/>
          <p:cNvSpPr/>
          <p:nvPr/>
        </p:nvSpPr>
        <p:spPr>
          <a:xfrm>
            <a:off x="868680" y="1938528"/>
            <a:ext cx="777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01</a:t>
            </a:r>
            <a:endParaRPr lang="en-US" sz="1500" dirty="0"/>
          </a:p>
        </p:txBody>
      </p:sp>
      <p:sp>
        <p:nvSpPr>
          <p:cNvPr id="7" name="Text 5"/>
          <p:cNvSpPr/>
          <p:nvPr/>
        </p:nvSpPr>
        <p:spPr>
          <a:xfrm>
            <a:off x="1874520" y="1783080"/>
            <a:ext cx="9418320" cy="777240"/>
          </a:xfrm>
          <a:prstGeom prst="rect">
            <a:avLst/>
          </a:prstGeom>
          <a:noFill/>
          <a:ln/>
        </p:spPr>
        <p:txBody>
          <a:bodyPr wrap="square" lIns="0" tIns="0" rIns="0" bIns="0" rtlCol="0" anchor="ctr"/>
          <a:lstStyle/>
          <a:p>
            <a:pPr indent="0" marL="0">
              <a:buNone/>
            </a:pPr>
            <a:r>
              <a:rPr lang="en-US" sz="1600" dirty="0">
                <a:solidFill>
                  <a:srgbClr val="1B1F24"/>
                </a:solidFill>
                <a:latin typeface="Calibri" pitchFamily="34" charset="0"/>
                <a:ea typeface="Calibri" pitchFamily="34" charset="-122"/>
                <a:cs typeface="Calibri" pitchFamily="34" charset="-120"/>
              </a:rPr>
              <a:t>Function Declarations vs Expressions vs Arrow Functions</a:t>
            </a:r>
            <a:endParaRPr lang="en-US" sz="1600" dirty="0"/>
          </a:p>
        </p:txBody>
      </p:sp>
      <p:sp>
        <p:nvSpPr>
          <p:cNvPr id="8" name="Shape 6"/>
          <p:cNvSpPr/>
          <p:nvPr/>
        </p:nvSpPr>
        <p:spPr>
          <a:xfrm>
            <a:off x="640080" y="2715768"/>
            <a:ext cx="10881360" cy="777240"/>
          </a:xfrm>
          <a:prstGeom prst="roundRect">
            <a:avLst>
              <a:gd name="adj" fmla="val 9412"/>
            </a:avLst>
          </a:prstGeom>
          <a:solidFill>
            <a:srgbClr val="FFFFFF"/>
          </a:solidFill>
          <a:ln w="12700">
            <a:solidFill>
              <a:srgbClr val="E3E5E8"/>
            </a:solidFill>
            <a:prstDash val="solid"/>
          </a:ln>
        </p:spPr>
      </p:sp>
      <p:sp>
        <p:nvSpPr>
          <p:cNvPr id="9" name="Shape 7"/>
          <p:cNvSpPr/>
          <p:nvPr/>
        </p:nvSpPr>
        <p:spPr>
          <a:xfrm>
            <a:off x="868680" y="2871216"/>
            <a:ext cx="777240" cy="457200"/>
          </a:xfrm>
          <a:prstGeom prst="roundRect">
            <a:avLst>
              <a:gd name="adj" fmla="val 50000"/>
            </a:avLst>
          </a:prstGeom>
          <a:solidFill>
            <a:srgbClr val="B08D00"/>
          </a:solidFill>
          <a:ln/>
        </p:spPr>
      </p:sp>
      <p:sp>
        <p:nvSpPr>
          <p:cNvPr id="10" name="Text 8"/>
          <p:cNvSpPr/>
          <p:nvPr/>
        </p:nvSpPr>
        <p:spPr>
          <a:xfrm>
            <a:off x="868680" y="2871216"/>
            <a:ext cx="777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02</a:t>
            </a:r>
            <a:endParaRPr lang="en-US" sz="1500" dirty="0"/>
          </a:p>
        </p:txBody>
      </p:sp>
      <p:sp>
        <p:nvSpPr>
          <p:cNvPr id="11" name="Text 9"/>
          <p:cNvSpPr/>
          <p:nvPr/>
        </p:nvSpPr>
        <p:spPr>
          <a:xfrm>
            <a:off x="1874520" y="2715768"/>
            <a:ext cx="9418320" cy="777240"/>
          </a:xfrm>
          <a:prstGeom prst="rect">
            <a:avLst/>
          </a:prstGeom>
          <a:noFill/>
          <a:ln/>
        </p:spPr>
        <p:txBody>
          <a:bodyPr wrap="square" lIns="0" tIns="0" rIns="0" bIns="0" rtlCol="0" anchor="ctr"/>
          <a:lstStyle/>
          <a:p>
            <a:pPr indent="0" marL="0">
              <a:buNone/>
            </a:pPr>
            <a:r>
              <a:rPr lang="en-US" sz="1600" dirty="0">
                <a:solidFill>
                  <a:srgbClr val="1B1F24"/>
                </a:solidFill>
                <a:latin typeface="Calibri" pitchFamily="34" charset="0"/>
                <a:ea typeface="Calibri" pitchFamily="34" charset="-122"/>
                <a:cs typeface="Calibri" pitchFamily="34" charset="-120"/>
              </a:rPr>
              <a:t>Hoisting</a:t>
            </a:r>
            <a:endParaRPr lang="en-US" sz="1600" dirty="0"/>
          </a:p>
        </p:txBody>
      </p:sp>
      <p:sp>
        <p:nvSpPr>
          <p:cNvPr id="12" name="Shape 10"/>
          <p:cNvSpPr/>
          <p:nvPr/>
        </p:nvSpPr>
        <p:spPr>
          <a:xfrm>
            <a:off x="640080" y="3648456"/>
            <a:ext cx="10881360" cy="777240"/>
          </a:xfrm>
          <a:prstGeom prst="roundRect">
            <a:avLst>
              <a:gd name="adj" fmla="val 9412"/>
            </a:avLst>
          </a:prstGeom>
          <a:solidFill>
            <a:srgbClr val="FFFFFF"/>
          </a:solidFill>
          <a:ln w="12700">
            <a:solidFill>
              <a:srgbClr val="E3E5E8"/>
            </a:solidFill>
            <a:prstDash val="solid"/>
          </a:ln>
        </p:spPr>
      </p:sp>
      <p:sp>
        <p:nvSpPr>
          <p:cNvPr id="13" name="Shape 11"/>
          <p:cNvSpPr/>
          <p:nvPr/>
        </p:nvSpPr>
        <p:spPr>
          <a:xfrm>
            <a:off x="868680" y="3803904"/>
            <a:ext cx="777240" cy="457200"/>
          </a:xfrm>
          <a:prstGeom prst="roundRect">
            <a:avLst>
              <a:gd name="adj" fmla="val 50000"/>
            </a:avLst>
          </a:prstGeom>
          <a:solidFill>
            <a:srgbClr val="3F8F5C"/>
          </a:solidFill>
          <a:ln/>
        </p:spPr>
      </p:sp>
      <p:sp>
        <p:nvSpPr>
          <p:cNvPr id="14" name="Text 12"/>
          <p:cNvSpPr/>
          <p:nvPr/>
        </p:nvSpPr>
        <p:spPr>
          <a:xfrm>
            <a:off x="868680" y="3803904"/>
            <a:ext cx="777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03</a:t>
            </a:r>
            <a:endParaRPr lang="en-US" sz="1500" dirty="0"/>
          </a:p>
        </p:txBody>
      </p:sp>
      <p:sp>
        <p:nvSpPr>
          <p:cNvPr id="15" name="Text 13"/>
          <p:cNvSpPr/>
          <p:nvPr/>
        </p:nvSpPr>
        <p:spPr>
          <a:xfrm>
            <a:off x="1874520" y="3648456"/>
            <a:ext cx="9418320" cy="777240"/>
          </a:xfrm>
          <a:prstGeom prst="rect">
            <a:avLst/>
          </a:prstGeom>
          <a:noFill/>
          <a:ln/>
        </p:spPr>
        <p:txBody>
          <a:bodyPr wrap="square" lIns="0" tIns="0" rIns="0" bIns="0" rtlCol="0" anchor="ctr"/>
          <a:lstStyle/>
          <a:p>
            <a:pPr indent="0" marL="0">
              <a:buNone/>
            </a:pPr>
            <a:r>
              <a:rPr lang="en-US" sz="1600" dirty="0">
                <a:solidFill>
                  <a:srgbClr val="1B1F24"/>
                </a:solidFill>
                <a:latin typeface="Calibri" pitchFamily="34" charset="0"/>
                <a:ea typeface="Calibri" pitchFamily="34" charset="-122"/>
                <a:cs typeface="Calibri" pitchFamily="34" charset="-120"/>
              </a:rPr>
              <a:t>Closures</a:t>
            </a:r>
            <a:endParaRPr lang="en-US" sz="1600" dirty="0"/>
          </a:p>
        </p:txBody>
      </p:sp>
      <p:sp>
        <p:nvSpPr>
          <p:cNvPr id="16" name="Shape 14"/>
          <p:cNvSpPr/>
          <p:nvPr/>
        </p:nvSpPr>
        <p:spPr>
          <a:xfrm>
            <a:off x="640080" y="4581144"/>
            <a:ext cx="10881360" cy="777240"/>
          </a:xfrm>
          <a:prstGeom prst="roundRect">
            <a:avLst>
              <a:gd name="adj" fmla="val 9412"/>
            </a:avLst>
          </a:prstGeom>
          <a:solidFill>
            <a:srgbClr val="FFFFFF"/>
          </a:solidFill>
          <a:ln w="12700">
            <a:solidFill>
              <a:srgbClr val="E3E5E8"/>
            </a:solidFill>
            <a:prstDash val="solid"/>
          </a:ln>
        </p:spPr>
      </p:sp>
      <p:sp>
        <p:nvSpPr>
          <p:cNvPr id="17" name="Shape 15"/>
          <p:cNvSpPr/>
          <p:nvPr/>
        </p:nvSpPr>
        <p:spPr>
          <a:xfrm>
            <a:off x="868680" y="4736592"/>
            <a:ext cx="777240" cy="457200"/>
          </a:xfrm>
          <a:prstGeom prst="roundRect">
            <a:avLst>
              <a:gd name="adj" fmla="val 50000"/>
            </a:avLst>
          </a:prstGeom>
          <a:solidFill>
            <a:srgbClr val="E06C75"/>
          </a:solidFill>
          <a:ln/>
        </p:spPr>
      </p:sp>
      <p:sp>
        <p:nvSpPr>
          <p:cNvPr id="18" name="Text 16"/>
          <p:cNvSpPr/>
          <p:nvPr/>
        </p:nvSpPr>
        <p:spPr>
          <a:xfrm>
            <a:off x="868680" y="4736592"/>
            <a:ext cx="777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04</a:t>
            </a:r>
            <a:endParaRPr lang="en-US" sz="1500" dirty="0"/>
          </a:p>
        </p:txBody>
      </p:sp>
      <p:sp>
        <p:nvSpPr>
          <p:cNvPr id="19" name="Text 17"/>
          <p:cNvSpPr/>
          <p:nvPr/>
        </p:nvSpPr>
        <p:spPr>
          <a:xfrm>
            <a:off x="1874520" y="4581144"/>
            <a:ext cx="9418320" cy="777240"/>
          </a:xfrm>
          <a:prstGeom prst="rect">
            <a:avLst/>
          </a:prstGeom>
          <a:noFill/>
          <a:ln/>
        </p:spPr>
        <p:txBody>
          <a:bodyPr wrap="square" lIns="0" tIns="0" rIns="0" bIns="0" rtlCol="0" anchor="ctr"/>
          <a:lstStyle/>
          <a:p>
            <a:pPr indent="0" marL="0">
              <a:buNone/>
            </a:pPr>
            <a:r>
              <a:rPr lang="en-US" sz="1600" dirty="0">
                <a:solidFill>
                  <a:srgbClr val="1B1F24"/>
                </a:solidFill>
                <a:latin typeface="Calibri" pitchFamily="34" charset="0"/>
                <a:ea typeface="Calibri" pitchFamily="34" charset="-122"/>
                <a:cs typeface="Calibri" pitchFamily="34" charset="-120"/>
              </a:rPr>
              <a:t>IIFE — Immediately Invoked Function Expressions</a:t>
            </a:r>
            <a:endParaRPr lang="en-US" sz="1600" dirty="0"/>
          </a:p>
        </p:txBody>
      </p:sp>
      <p:sp>
        <p:nvSpPr>
          <p:cNvPr id="20" name="Shape 18"/>
          <p:cNvSpPr/>
          <p:nvPr/>
        </p:nvSpPr>
        <p:spPr>
          <a:xfrm>
            <a:off x="640080" y="5513832"/>
            <a:ext cx="10881360" cy="777240"/>
          </a:xfrm>
          <a:prstGeom prst="roundRect">
            <a:avLst>
              <a:gd name="adj" fmla="val 9412"/>
            </a:avLst>
          </a:prstGeom>
          <a:solidFill>
            <a:srgbClr val="FFFFFF"/>
          </a:solidFill>
          <a:ln w="12700">
            <a:solidFill>
              <a:srgbClr val="E3E5E8"/>
            </a:solidFill>
            <a:prstDash val="solid"/>
          </a:ln>
        </p:spPr>
      </p:sp>
      <p:sp>
        <p:nvSpPr>
          <p:cNvPr id="21" name="Shape 19"/>
          <p:cNvSpPr/>
          <p:nvPr/>
        </p:nvSpPr>
        <p:spPr>
          <a:xfrm>
            <a:off x="868680" y="5669280"/>
            <a:ext cx="777240" cy="457200"/>
          </a:xfrm>
          <a:prstGeom prst="roundRect">
            <a:avLst>
              <a:gd name="adj" fmla="val 50000"/>
            </a:avLst>
          </a:prstGeom>
          <a:solidFill>
            <a:srgbClr val="5B5FEF"/>
          </a:solidFill>
          <a:ln/>
        </p:spPr>
      </p:sp>
      <p:sp>
        <p:nvSpPr>
          <p:cNvPr id="22" name="Text 20"/>
          <p:cNvSpPr/>
          <p:nvPr/>
        </p:nvSpPr>
        <p:spPr>
          <a:xfrm>
            <a:off x="868680" y="5669280"/>
            <a:ext cx="777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05</a:t>
            </a:r>
            <a:endParaRPr lang="en-US" sz="1500" dirty="0"/>
          </a:p>
        </p:txBody>
      </p:sp>
      <p:sp>
        <p:nvSpPr>
          <p:cNvPr id="23" name="Text 21"/>
          <p:cNvSpPr/>
          <p:nvPr/>
        </p:nvSpPr>
        <p:spPr>
          <a:xfrm>
            <a:off x="1874520" y="5513832"/>
            <a:ext cx="9418320" cy="777240"/>
          </a:xfrm>
          <a:prstGeom prst="rect">
            <a:avLst/>
          </a:prstGeom>
          <a:noFill/>
          <a:ln/>
        </p:spPr>
        <p:txBody>
          <a:bodyPr wrap="square" lIns="0" tIns="0" rIns="0" bIns="0" rtlCol="0" anchor="ctr"/>
          <a:lstStyle/>
          <a:p>
            <a:pPr indent="0" marL="0">
              <a:buNone/>
            </a:pPr>
            <a:r>
              <a:rPr lang="en-US" sz="1600" dirty="0">
                <a:solidFill>
                  <a:srgbClr val="1B1F24"/>
                </a:solidFill>
                <a:latin typeface="Calibri" pitchFamily="34" charset="0"/>
                <a:ea typeface="Calibri" pitchFamily="34" charset="-122"/>
                <a:cs typeface="Calibri" pitchFamily="34" charset="-120"/>
              </a:rPr>
              <a:t>Higher-Order Functions</a:t>
            </a:r>
            <a:endParaRPr lang="en-US" sz="1600" dirty="0"/>
          </a:p>
        </p:txBody>
      </p:sp>
      <p:sp>
        <p:nvSpPr>
          <p:cNvPr id="24" name="Text 22"/>
          <p:cNvSpPr/>
          <p:nvPr/>
        </p:nvSpPr>
        <p:spPr>
          <a:xfrm>
            <a:off x="640080" y="6492240"/>
            <a:ext cx="10881360" cy="365760"/>
          </a:xfrm>
          <a:prstGeom prst="rect">
            <a:avLst/>
          </a:prstGeom>
          <a:noFill/>
          <a:ln/>
        </p:spPr>
        <p:txBody>
          <a:bodyPr wrap="square" lIns="0" tIns="0" rIns="0" bIns="0" rtlCol="0" anchor="ctr"/>
          <a:lstStyle/>
          <a:p>
            <a:pPr indent="0" marL="0">
              <a:buNone/>
            </a:pPr>
            <a:r>
              <a:rPr lang="en-US" sz="1300" i="1" dirty="0">
                <a:solidFill>
                  <a:srgbClr val="6E7681"/>
                </a:solidFill>
                <a:latin typeface="Calibri" pitchFamily="34" charset="0"/>
                <a:ea typeface="Calibri" pitchFamily="34" charset="-122"/>
                <a:cs typeface="Calibri" pitchFamily="34" charset="-120"/>
              </a:rPr>
              <a:t>Each concept: a clear definition, then two real-world code examples.</a:t>
            </a:r>
            <a:endParaRPr lang="en-US" sz="1300" dirty="0"/>
          </a:p>
        </p:txBody>
      </p:sp>
      <p:sp>
        <p:nvSpPr>
          <p:cNvPr id="25" name="Text 23"/>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01-FUNCTIONS-BASICS</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Declarations vs Expressions vs Arrow Functions</a:t>
            </a:r>
            <a:endParaRPr lang="en-US" sz="2800" dirty="0"/>
          </a:p>
        </p:txBody>
      </p:sp>
      <p:sp>
        <p:nvSpPr>
          <p:cNvPr id="4" name="Shape 2"/>
          <p:cNvSpPr/>
          <p:nvPr/>
        </p:nvSpPr>
        <p:spPr>
          <a:xfrm>
            <a:off x="640080" y="1554480"/>
            <a:ext cx="5029200" cy="1600200"/>
          </a:xfrm>
          <a:prstGeom prst="roundRect">
            <a:avLst>
              <a:gd name="adj" fmla="val 4571"/>
            </a:avLst>
          </a:prstGeom>
          <a:solidFill>
            <a:srgbClr val="FFFFFF"/>
          </a:solidFill>
          <a:ln w="12700">
            <a:solidFill>
              <a:srgbClr val="E3E5E8"/>
            </a:solidFill>
            <a:prstDash val="solid"/>
          </a:ln>
        </p:spPr>
      </p:sp>
      <p:sp>
        <p:nvSpPr>
          <p:cNvPr id="5" name="Text 3"/>
          <p:cNvSpPr/>
          <p:nvPr/>
        </p:nvSpPr>
        <p:spPr>
          <a:xfrm>
            <a:off x="868680" y="169164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1947672"/>
            <a:ext cx="4572000" cy="114300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JavaScript offers three ways to define a function: named declarations, expressions assigned to a variable, and concise arrow functions. They behave the same when called, but differ in hoisting and how they handle 'this'.</a:t>
            </a:r>
            <a:endParaRPr lang="en-US" sz="1350" dirty="0"/>
          </a:p>
        </p:txBody>
      </p:sp>
      <p:sp>
        <p:nvSpPr>
          <p:cNvPr id="7" name="Shape 5"/>
          <p:cNvSpPr/>
          <p:nvPr/>
        </p:nvSpPr>
        <p:spPr>
          <a:xfrm>
            <a:off x="640080" y="3337560"/>
            <a:ext cx="5029200" cy="2880360"/>
          </a:xfrm>
          <a:prstGeom prst="roundRect">
            <a:avLst>
              <a:gd name="adj" fmla="val 2540"/>
            </a:avLst>
          </a:prstGeom>
          <a:solidFill>
            <a:srgbClr val="FFFFFF"/>
          </a:solidFill>
          <a:ln w="12700">
            <a:solidFill>
              <a:srgbClr val="E3E5E8"/>
            </a:solidFill>
            <a:prstDash val="solid"/>
          </a:ln>
        </p:spPr>
      </p:sp>
      <p:sp>
        <p:nvSpPr>
          <p:cNvPr id="8" name="Text 6"/>
          <p:cNvSpPr/>
          <p:nvPr/>
        </p:nvSpPr>
        <p:spPr>
          <a:xfrm>
            <a:off x="868680" y="3474720"/>
            <a:ext cx="45720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KEY POINTS</a:t>
            </a:r>
            <a:endParaRPr lang="en-US" sz="1100" dirty="0"/>
          </a:p>
        </p:txBody>
      </p:sp>
      <p:sp>
        <p:nvSpPr>
          <p:cNvPr id="9" name="Text 7"/>
          <p:cNvSpPr/>
          <p:nvPr/>
        </p:nvSpPr>
        <p:spPr>
          <a:xfrm>
            <a:off x="868680" y="3749040"/>
            <a:ext cx="4617720" cy="23774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Declarations are hoisted — safe to call before they appear in the file</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Expressions &amp; arrows are NOT hoisted — must be defined before use</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Arrow functions have no own 'this' — great for short callbacks</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Same job, different rules — pick based on hoisting needs</a:t>
            </a:r>
            <a:endParaRPr lang="en-US" sz="1300" dirty="0"/>
          </a:p>
        </p:txBody>
      </p:sp>
      <p:sp>
        <p:nvSpPr>
          <p:cNvPr id="10" name="Text 8"/>
          <p:cNvSpPr/>
          <p:nvPr/>
        </p:nvSpPr>
        <p:spPr>
          <a:xfrm>
            <a:off x="5943600" y="141732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EXAMPLE 1</a:t>
            </a:r>
            <a:endParaRPr lang="en-US" sz="1100" dirty="0"/>
          </a:p>
        </p:txBody>
      </p:sp>
      <p:sp>
        <p:nvSpPr>
          <p:cNvPr id="11" name="Shape 9"/>
          <p:cNvSpPr/>
          <p:nvPr/>
        </p:nvSpPr>
        <p:spPr>
          <a:xfrm>
            <a:off x="5943600" y="1691640"/>
            <a:ext cx="5623560" cy="4526280"/>
          </a:xfrm>
          <a:prstGeom prst="roundRect">
            <a:avLst>
              <a:gd name="adj" fmla="val 1616"/>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5943600" y="1691640"/>
            <a:ext cx="5623560" cy="310896"/>
          </a:xfrm>
          <a:prstGeom prst="rect">
            <a:avLst/>
          </a:prstGeom>
          <a:solidFill>
            <a:srgbClr val="161B22"/>
          </a:solidFill>
          <a:ln/>
        </p:spPr>
      </p:sp>
      <p:sp>
        <p:nvSpPr>
          <p:cNvPr id="13" name="Shape 11"/>
          <p:cNvSpPr/>
          <p:nvPr/>
        </p:nvSpPr>
        <p:spPr>
          <a:xfrm>
            <a:off x="6108192" y="1787652"/>
            <a:ext cx="118872" cy="118872"/>
          </a:xfrm>
          <a:prstGeom prst="ellipse">
            <a:avLst/>
          </a:prstGeom>
          <a:solidFill>
            <a:srgbClr val="E06C75"/>
          </a:solidFill>
          <a:ln/>
        </p:spPr>
      </p:sp>
      <p:sp>
        <p:nvSpPr>
          <p:cNvPr id="14" name="Shape 12"/>
          <p:cNvSpPr/>
          <p:nvPr/>
        </p:nvSpPr>
        <p:spPr>
          <a:xfrm>
            <a:off x="6309360" y="1787652"/>
            <a:ext cx="118872" cy="118872"/>
          </a:xfrm>
          <a:prstGeom prst="ellipse">
            <a:avLst/>
          </a:prstGeom>
          <a:solidFill>
            <a:srgbClr val="F0DB4F"/>
          </a:solidFill>
          <a:ln/>
        </p:spPr>
      </p:sp>
      <p:sp>
        <p:nvSpPr>
          <p:cNvPr id="15" name="Shape 13"/>
          <p:cNvSpPr/>
          <p:nvPr/>
        </p:nvSpPr>
        <p:spPr>
          <a:xfrm>
            <a:off x="6510528" y="1787652"/>
            <a:ext cx="118872" cy="118872"/>
          </a:xfrm>
          <a:prstGeom prst="ellipse">
            <a:avLst/>
          </a:prstGeom>
          <a:solidFill>
            <a:srgbClr val="27C93F"/>
          </a:solidFill>
          <a:ln/>
        </p:spPr>
      </p:sp>
      <p:sp>
        <p:nvSpPr>
          <p:cNvPr id="16" name="Text 14"/>
          <p:cNvSpPr/>
          <p:nvPr/>
        </p:nvSpPr>
        <p:spPr>
          <a:xfrm>
            <a:off x="6766560" y="1691640"/>
            <a:ext cx="46177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7" name="Text 15"/>
          <p:cNvSpPr/>
          <p:nvPr/>
        </p:nvSpPr>
        <p:spPr>
          <a:xfrm>
            <a:off x="6172200" y="2112264"/>
            <a:ext cx="5166360" cy="3977640"/>
          </a:xfrm>
          <a:prstGeom prst="rect">
            <a:avLst/>
          </a:prstGeom>
          <a:noFill/>
          <a:ln/>
        </p:spPr>
        <p:txBody>
          <a:bodyPr wrap="square" lIns="0" tIns="0" rIns="0" bIns="0" rtlCol="0" anchor="t"/>
          <a:lstStyle/>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greetDeclaration(name) {</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7EC699"/>
                </a:solidFill>
                <a:latin typeface="Courier New" pitchFamily="34" charset="0"/>
                <a:ea typeface="Courier New" pitchFamily="34" charset="-122"/>
                <a:cs typeface="Courier New" pitchFamily="34" charset="-120"/>
              </a:rPr>
              <a:t> `Hello, ${name}!`;</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greetExpression = </a:t>
            </a:r>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(name) {</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7EC699"/>
                </a:solidFill>
                <a:latin typeface="Courier New" pitchFamily="34" charset="0"/>
                <a:ea typeface="Courier New" pitchFamily="34" charset="-122"/>
                <a:cs typeface="Courier New" pitchFamily="34" charset="-120"/>
              </a:rPr>
              <a:t> `Hi, ${name}!`;</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squareArrow = (n) =&gt; n * n;</a:t>
            </a:r>
            <a:endParaRPr lang="en-US" sz="1250" dirty="0"/>
          </a:p>
          <a:p>
            <a:pPr indent="0" marL="0">
              <a:lnSpc>
                <a:spcPct val="122000"/>
              </a:lnSpc>
              <a:buNone/>
            </a:pP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greetDeclaration(</a:t>
            </a:r>
            <a:pPr indent="0" marL="0">
              <a:lnSpc>
                <a:spcPct val="122000"/>
              </a:lnSpc>
              <a:buNone/>
            </a:pPr>
            <a:r>
              <a:rPr lang="en-US" sz="1250" dirty="0">
                <a:solidFill>
                  <a:srgbClr val="7EC699"/>
                </a:solidFill>
                <a:latin typeface="Courier New" pitchFamily="34" charset="0"/>
                <a:ea typeface="Courier New" pitchFamily="34" charset="-122"/>
                <a:cs typeface="Courier New" pitchFamily="34" charset="-120"/>
              </a:rPr>
              <a:t>'Asha'</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 Hello, Asha!</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squareArrow(</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5</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 25</a:t>
            </a:r>
            <a:endParaRPr lang="en-US" sz="1250" dirty="0"/>
          </a:p>
        </p:txBody>
      </p:sp>
      <p:sp>
        <p:nvSpPr>
          <p:cNvPr id="18" name="Text 16"/>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6C75"/>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Example 2 — Checkout Module Relying on Hoisting</a:t>
            </a:r>
            <a:endParaRPr lang="en-US" sz="28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buNone/>
            </a:pPr>
            <a:r>
              <a:rPr lang="en-US" sz="1350" dirty="0">
                <a:solidFill>
                  <a:srgbClr val="1B1F24"/>
                </a:solidFill>
                <a:latin typeface="Calibri" pitchFamily="34" charset="0"/>
                <a:ea typeface="Calibri" pitchFamily="34" charset="-122"/>
                <a:cs typeface="Calibri" pitchFamily="34" charset="-120"/>
              </a:rPr>
              <a:t>In a real checkout module, helper functions are often grouped at the bottom of the file for readability. A function declaration can safely be called before it's defined — a plain arrow/const can't.</a:t>
            </a:r>
            <a:endParaRPr lang="en-US" sz="1350" dirty="0"/>
          </a:p>
        </p:txBody>
      </p:sp>
      <p:sp>
        <p:nvSpPr>
          <p:cNvPr id="5" name="Shape 3"/>
          <p:cNvSpPr/>
          <p:nvPr/>
        </p:nvSpPr>
        <p:spPr>
          <a:xfrm>
            <a:off x="640080" y="2148840"/>
            <a:ext cx="10881360" cy="3794760"/>
          </a:xfrm>
          <a:prstGeom prst="roundRect">
            <a:avLst>
              <a:gd name="adj" fmla="val 1928"/>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640080" y="2148840"/>
            <a:ext cx="10881360" cy="310896"/>
          </a:xfrm>
          <a:prstGeom prst="rect">
            <a:avLst/>
          </a:prstGeom>
          <a:solidFill>
            <a:srgbClr val="161B22"/>
          </a:solidFill>
          <a:ln/>
        </p:spPr>
      </p:sp>
      <p:sp>
        <p:nvSpPr>
          <p:cNvPr id="7" name="Shape 5"/>
          <p:cNvSpPr/>
          <p:nvPr/>
        </p:nvSpPr>
        <p:spPr>
          <a:xfrm>
            <a:off x="804672" y="2244852"/>
            <a:ext cx="118872" cy="118872"/>
          </a:xfrm>
          <a:prstGeom prst="ellipse">
            <a:avLst/>
          </a:prstGeom>
          <a:solidFill>
            <a:srgbClr val="E06C75"/>
          </a:solidFill>
          <a:ln/>
        </p:spPr>
      </p:sp>
      <p:sp>
        <p:nvSpPr>
          <p:cNvPr id="8" name="Shape 6"/>
          <p:cNvSpPr/>
          <p:nvPr/>
        </p:nvSpPr>
        <p:spPr>
          <a:xfrm>
            <a:off x="1005840" y="2244852"/>
            <a:ext cx="118872" cy="118872"/>
          </a:xfrm>
          <a:prstGeom prst="ellipse">
            <a:avLst/>
          </a:prstGeom>
          <a:solidFill>
            <a:srgbClr val="F0DB4F"/>
          </a:solidFill>
          <a:ln/>
        </p:spPr>
      </p:sp>
      <p:sp>
        <p:nvSpPr>
          <p:cNvPr id="9" name="Shape 7"/>
          <p:cNvSpPr/>
          <p:nvPr/>
        </p:nvSpPr>
        <p:spPr>
          <a:xfrm>
            <a:off x="1207008" y="2244852"/>
            <a:ext cx="118872" cy="118872"/>
          </a:xfrm>
          <a:prstGeom prst="ellipse">
            <a:avLst/>
          </a:prstGeom>
          <a:solidFill>
            <a:srgbClr val="27C93F"/>
          </a:solidFill>
          <a:ln/>
        </p:spPr>
      </p:sp>
      <p:sp>
        <p:nvSpPr>
          <p:cNvPr id="10" name="Text 8"/>
          <p:cNvSpPr/>
          <p:nvPr/>
        </p:nvSpPr>
        <p:spPr>
          <a:xfrm>
            <a:off x="1463040" y="2148840"/>
            <a:ext cx="98755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checkout.js</a:t>
            </a:r>
            <a:endParaRPr lang="en-US" sz="1050" dirty="0"/>
          </a:p>
        </p:txBody>
      </p:sp>
      <p:sp>
        <p:nvSpPr>
          <p:cNvPr id="11" name="Text 9"/>
          <p:cNvSpPr/>
          <p:nvPr/>
        </p:nvSpPr>
        <p:spPr>
          <a:xfrm>
            <a:off x="868680" y="2569464"/>
            <a:ext cx="10424160" cy="3246120"/>
          </a:xfrm>
          <a:prstGeom prst="rect">
            <a:avLst/>
          </a:prstGeom>
          <a:noFill/>
          <a:ln/>
        </p:spPr>
        <p:txBody>
          <a:bodyPr wrap="square" lIns="0" tIns="0" rIns="0" bIns="0" rtlCol="0" anchor="t"/>
          <a:lstStyle/>
          <a:p>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helper defined lower in the file, but callable now</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console.log(isEligibleForDiscount(</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120</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250" i="1" dirty="0">
                <a:solidFill>
                  <a:srgbClr val="7EC699"/>
                </a:solidFill>
                <a:latin typeface="Courier New" pitchFamily="34" charset="0"/>
                <a:ea typeface="Courier New" pitchFamily="34" charset="-122"/>
                <a:cs typeface="Courier New" pitchFamily="34" charset="-120"/>
              </a:rPr>
              <a:t>// true</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withTax = cart.map((item) =&gt; ({</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...item, price: applyTax(item.price),</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 function declaration — hoisted, order-independent</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isEligibleForDiscount(total) {</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total &gt; </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100</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 arrow assigned to const — usable only after this line</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applyTax = (price) =&gt; +(price * </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1.18</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).toFixed(</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2</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p:txBody>
      </p:sp>
      <p:sp>
        <p:nvSpPr>
          <p:cNvPr id="12" name="Shape 10"/>
          <p:cNvSpPr/>
          <p:nvPr/>
        </p:nvSpPr>
        <p:spPr>
          <a:xfrm>
            <a:off x="640080" y="6080760"/>
            <a:ext cx="10881360" cy="502920"/>
          </a:xfrm>
          <a:prstGeom prst="roundRect">
            <a:avLst>
              <a:gd name="adj" fmla="val 10909"/>
            </a:avLst>
          </a:prstGeom>
          <a:solidFill>
            <a:srgbClr val="FFF6D9"/>
          </a:solidFill>
          <a:ln w="12700">
            <a:solidFill>
              <a:srgbClr val="F0DB4F"/>
            </a:solidFill>
            <a:prstDash val="solid"/>
          </a:ln>
        </p:spPr>
      </p:sp>
      <p:sp>
        <p:nvSpPr>
          <p:cNvPr id="13" name="Text 11"/>
          <p:cNvSpPr/>
          <p:nvPr/>
        </p:nvSpPr>
        <p:spPr>
          <a:xfrm>
            <a:off x="868680" y="6080760"/>
            <a:ext cx="10424160" cy="502920"/>
          </a:xfrm>
          <a:prstGeom prst="rect">
            <a:avLst/>
          </a:prstGeom>
          <a:noFill/>
          <a:ln/>
        </p:spPr>
        <p:txBody>
          <a:bodyPr wrap="square" lIns="0" tIns="0" rIns="0" bIns="0" rtlCol="0" anchor="ctr"/>
          <a:lstStyle/>
          <a:p>
            <a:pPr indent="0" marL="0">
              <a:buNone/>
            </a:pPr>
            <a:r>
              <a:rPr lang="en-US" sz="1250" b="1" dirty="0">
                <a:solidFill>
                  <a:srgbClr val="6B5900"/>
                </a:solidFill>
                <a:latin typeface="Calibri" pitchFamily="34" charset="0"/>
                <a:ea typeface="Calibri" pitchFamily="34" charset="-122"/>
                <a:cs typeface="Calibri" pitchFamily="34" charset="-120"/>
              </a:rPr>
              <a:t>Why it matters:  </a:t>
            </a:r>
            <a:pPr indent="0" marL="0">
              <a:buNone/>
            </a:pPr>
            <a:r>
              <a:rPr lang="en-US" sz="1250" i="1" dirty="0">
                <a:solidFill>
                  <a:srgbClr val="6B5900"/>
                </a:solidFill>
                <a:latin typeface="Calibri" pitchFamily="34" charset="0"/>
                <a:ea typeface="Calibri" pitchFamily="34" charset="-122"/>
                <a:cs typeface="Calibri" pitchFamily="34" charset="-120"/>
              </a:rPr>
              <a:t>Teams often group utilities at the bottom of a file. Knowing which style survives that ordering prevents 'is not a function' bugs during refactors.</a:t>
            </a:r>
            <a:endParaRPr lang="en-US" sz="1250" dirty="0"/>
          </a:p>
        </p:txBody>
      </p:sp>
      <p:sp>
        <p:nvSpPr>
          <p:cNvPr id="14" name="Text 12"/>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01-FUNCTIONS-BASICS</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Hoisting</a:t>
            </a:r>
            <a:endParaRPr lang="en-US" sz="2800" dirty="0"/>
          </a:p>
        </p:txBody>
      </p:sp>
      <p:sp>
        <p:nvSpPr>
          <p:cNvPr id="4" name="Shape 2"/>
          <p:cNvSpPr/>
          <p:nvPr/>
        </p:nvSpPr>
        <p:spPr>
          <a:xfrm>
            <a:off x="640080" y="1554480"/>
            <a:ext cx="5029200" cy="1600200"/>
          </a:xfrm>
          <a:prstGeom prst="roundRect">
            <a:avLst>
              <a:gd name="adj" fmla="val 4571"/>
            </a:avLst>
          </a:prstGeom>
          <a:solidFill>
            <a:srgbClr val="FFFFFF"/>
          </a:solidFill>
          <a:ln w="12700">
            <a:solidFill>
              <a:srgbClr val="E3E5E8"/>
            </a:solidFill>
            <a:prstDash val="solid"/>
          </a:ln>
        </p:spPr>
      </p:sp>
      <p:sp>
        <p:nvSpPr>
          <p:cNvPr id="5" name="Text 3"/>
          <p:cNvSpPr/>
          <p:nvPr/>
        </p:nvSpPr>
        <p:spPr>
          <a:xfrm>
            <a:off x="868680" y="169164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1947672"/>
            <a:ext cx="4572000" cy="114300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During compilation, JS moves declarations to the top of their scope. Function declarations are hoisted completely (name + body). var is hoisted and initialized to undefined. let/const are hoisted but stay uninitialized in the 'Temporal Dead Zone' until their line runs.</a:t>
            </a:r>
            <a:endParaRPr lang="en-US" sz="1350" dirty="0"/>
          </a:p>
        </p:txBody>
      </p:sp>
      <p:sp>
        <p:nvSpPr>
          <p:cNvPr id="7" name="Shape 5"/>
          <p:cNvSpPr/>
          <p:nvPr/>
        </p:nvSpPr>
        <p:spPr>
          <a:xfrm>
            <a:off x="640080" y="3337560"/>
            <a:ext cx="5029200" cy="2880360"/>
          </a:xfrm>
          <a:prstGeom prst="roundRect">
            <a:avLst>
              <a:gd name="adj" fmla="val 2540"/>
            </a:avLst>
          </a:prstGeom>
          <a:solidFill>
            <a:srgbClr val="FFFFFF"/>
          </a:solidFill>
          <a:ln w="12700">
            <a:solidFill>
              <a:srgbClr val="E3E5E8"/>
            </a:solidFill>
            <a:prstDash val="solid"/>
          </a:ln>
        </p:spPr>
      </p:sp>
      <p:sp>
        <p:nvSpPr>
          <p:cNvPr id="8" name="Text 6"/>
          <p:cNvSpPr/>
          <p:nvPr/>
        </p:nvSpPr>
        <p:spPr>
          <a:xfrm>
            <a:off x="868680" y="3474720"/>
            <a:ext cx="45720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KEY POINTS</a:t>
            </a:r>
            <a:endParaRPr lang="en-US" sz="1100" dirty="0"/>
          </a:p>
        </p:txBody>
      </p:sp>
      <p:sp>
        <p:nvSpPr>
          <p:cNvPr id="9" name="Text 7"/>
          <p:cNvSpPr/>
          <p:nvPr/>
        </p:nvSpPr>
        <p:spPr>
          <a:xfrm>
            <a:off x="868680" y="3749040"/>
            <a:ext cx="4617720" cy="23774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Function declarations → fully usable before their line in the file</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var → hoisted, but value is undefined until assigned</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let/const → hoisted into the Temporal Dead Zone (TDZ) — accessing early throws</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Arrow/expression functions follow their variable's hoisting rule (var/let/const)</a:t>
            </a:r>
            <a:endParaRPr lang="en-US" sz="1300" dirty="0"/>
          </a:p>
        </p:txBody>
      </p:sp>
      <p:sp>
        <p:nvSpPr>
          <p:cNvPr id="10" name="Text 8"/>
          <p:cNvSpPr/>
          <p:nvPr/>
        </p:nvSpPr>
        <p:spPr>
          <a:xfrm>
            <a:off x="5943600" y="141732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EXAMPLE 1</a:t>
            </a:r>
            <a:endParaRPr lang="en-US" sz="1100" dirty="0"/>
          </a:p>
        </p:txBody>
      </p:sp>
      <p:sp>
        <p:nvSpPr>
          <p:cNvPr id="11" name="Shape 9"/>
          <p:cNvSpPr/>
          <p:nvPr/>
        </p:nvSpPr>
        <p:spPr>
          <a:xfrm>
            <a:off x="5943600" y="1691640"/>
            <a:ext cx="5623560" cy="4526280"/>
          </a:xfrm>
          <a:prstGeom prst="roundRect">
            <a:avLst>
              <a:gd name="adj" fmla="val 1616"/>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5943600" y="1691640"/>
            <a:ext cx="5623560" cy="310896"/>
          </a:xfrm>
          <a:prstGeom prst="rect">
            <a:avLst/>
          </a:prstGeom>
          <a:solidFill>
            <a:srgbClr val="161B22"/>
          </a:solidFill>
          <a:ln/>
        </p:spPr>
      </p:sp>
      <p:sp>
        <p:nvSpPr>
          <p:cNvPr id="13" name="Shape 11"/>
          <p:cNvSpPr/>
          <p:nvPr/>
        </p:nvSpPr>
        <p:spPr>
          <a:xfrm>
            <a:off x="6108192" y="1787652"/>
            <a:ext cx="118872" cy="118872"/>
          </a:xfrm>
          <a:prstGeom prst="ellipse">
            <a:avLst/>
          </a:prstGeom>
          <a:solidFill>
            <a:srgbClr val="E06C75"/>
          </a:solidFill>
          <a:ln/>
        </p:spPr>
      </p:sp>
      <p:sp>
        <p:nvSpPr>
          <p:cNvPr id="14" name="Shape 12"/>
          <p:cNvSpPr/>
          <p:nvPr/>
        </p:nvSpPr>
        <p:spPr>
          <a:xfrm>
            <a:off x="6309360" y="1787652"/>
            <a:ext cx="118872" cy="118872"/>
          </a:xfrm>
          <a:prstGeom prst="ellipse">
            <a:avLst/>
          </a:prstGeom>
          <a:solidFill>
            <a:srgbClr val="F0DB4F"/>
          </a:solidFill>
          <a:ln/>
        </p:spPr>
      </p:sp>
      <p:sp>
        <p:nvSpPr>
          <p:cNvPr id="15" name="Shape 13"/>
          <p:cNvSpPr/>
          <p:nvPr/>
        </p:nvSpPr>
        <p:spPr>
          <a:xfrm>
            <a:off x="6510528" y="1787652"/>
            <a:ext cx="118872" cy="118872"/>
          </a:xfrm>
          <a:prstGeom prst="ellipse">
            <a:avLst/>
          </a:prstGeom>
          <a:solidFill>
            <a:srgbClr val="27C93F"/>
          </a:solidFill>
          <a:ln/>
        </p:spPr>
      </p:sp>
      <p:sp>
        <p:nvSpPr>
          <p:cNvPr id="16" name="Text 14"/>
          <p:cNvSpPr/>
          <p:nvPr/>
        </p:nvSpPr>
        <p:spPr>
          <a:xfrm>
            <a:off x="6766560" y="1691640"/>
            <a:ext cx="46177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7" name="Text 15"/>
          <p:cNvSpPr/>
          <p:nvPr/>
        </p:nvSpPr>
        <p:spPr>
          <a:xfrm>
            <a:off x="6172200" y="2112264"/>
            <a:ext cx="5166360" cy="3977640"/>
          </a:xfrm>
          <a:prstGeom prst="rect">
            <a:avLst/>
          </a:prstGeom>
          <a:noFill/>
          <a:ln/>
        </p:spPr>
        <p:txBody>
          <a:bodyPr wrap="square" lIns="0" tIns="0" rIns="0" bIns="0" rtlCol="0" anchor="t"/>
          <a:lstStyle/>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console.log(sayHi());  </a:t>
            </a:r>
            <a:pPr indent="0" marL="0">
              <a:lnSpc>
                <a:spcPct val="122000"/>
              </a:lnSpc>
              <a:buNone/>
            </a:pPr>
            <a:r>
              <a:rPr lang="en-US" sz="1250" i="1" dirty="0">
                <a:solidFill>
                  <a:srgbClr val="7EC699"/>
                </a:solidFill>
                <a:latin typeface="Courier New" pitchFamily="34" charset="0"/>
                <a:ea typeface="Courier New" pitchFamily="34" charset="-122"/>
                <a:cs typeface="Courier New" pitchFamily="34" charset="-120"/>
              </a:rPr>
              <a:t>// Works!</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sayHi() {</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7EC699"/>
                </a:solidFill>
                <a:latin typeface="Courier New" pitchFamily="34" charset="0"/>
                <a:ea typeface="Courier New" pitchFamily="34" charset="-122"/>
                <a:cs typeface="Courier New" pitchFamily="34" charset="-120"/>
              </a:rPr>
              <a:t> "Hi there";</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try</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console.log(sayBye());  </a:t>
            </a:r>
            <a:pPr indent="0" marL="0">
              <a:lnSpc>
                <a:spcPct val="122000"/>
              </a:lnSpc>
              <a:buNone/>
            </a:pPr>
            <a:r>
              <a:rPr lang="en-US" sz="1250" i="1" dirty="0">
                <a:solidFill>
                  <a:srgbClr val="E06C75"/>
                </a:solidFill>
                <a:latin typeface="Courier New" pitchFamily="34" charset="0"/>
                <a:ea typeface="Courier New" pitchFamily="34" charset="-122"/>
                <a:cs typeface="Courier New" pitchFamily="34" charset="-120"/>
              </a:rPr>
              <a:t>// ❌ error</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catch</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(err) {</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console.log(err.message);</a:t>
            </a:r>
            <a:endParaRPr lang="en-US" sz="1250" dirty="0"/>
          </a:p>
          <a:p>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 Cannot access 'sayBye' before initialization</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sayBye = () =&gt; "Bye now";</a:t>
            </a:r>
            <a:endParaRPr lang="en-US" sz="1250" dirty="0"/>
          </a:p>
        </p:txBody>
      </p:sp>
      <p:sp>
        <p:nvSpPr>
          <p:cNvPr id="18" name="Text 16"/>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6C75"/>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Example 2 — A Config Load-Order Bug in Production</a:t>
            </a:r>
            <a:endParaRPr lang="en-US" sz="28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buNone/>
            </a:pPr>
            <a:r>
              <a:rPr lang="en-US" sz="1350" dirty="0">
                <a:solidFill>
                  <a:srgbClr val="1B1F24"/>
                </a:solidFill>
                <a:latin typeface="Calibri" pitchFamily="34" charset="0"/>
                <a:ea typeface="Calibri" pitchFamily="34" charset="-122"/>
                <a:cs typeface="Calibri" pitchFamily="34" charset="-120"/>
              </a:rPr>
              <a:t>A very common real bug: someone reorders code during a refactor and a var silently becomes undefined instead of throwing, while a let/const correctly fails fast with a clear TDZ error.</a:t>
            </a:r>
            <a:endParaRPr lang="en-US" sz="1350" dirty="0"/>
          </a:p>
        </p:txBody>
      </p:sp>
      <p:sp>
        <p:nvSpPr>
          <p:cNvPr id="5" name="Shape 3"/>
          <p:cNvSpPr/>
          <p:nvPr/>
        </p:nvSpPr>
        <p:spPr>
          <a:xfrm>
            <a:off x="640080" y="2148840"/>
            <a:ext cx="10881360" cy="3794760"/>
          </a:xfrm>
          <a:prstGeom prst="roundRect">
            <a:avLst>
              <a:gd name="adj" fmla="val 1928"/>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640080" y="2148840"/>
            <a:ext cx="10881360" cy="310896"/>
          </a:xfrm>
          <a:prstGeom prst="rect">
            <a:avLst/>
          </a:prstGeom>
          <a:solidFill>
            <a:srgbClr val="161B22"/>
          </a:solidFill>
          <a:ln/>
        </p:spPr>
      </p:sp>
      <p:sp>
        <p:nvSpPr>
          <p:cNvPr id="7" name="Shape 5"/>
          <p:cNvSpPr/>
          <p:nvPr/>
        </p:nvSpPr>
        <p:spPr>
          <a:xfrm>
            <a:off x="804672" y="2244852"/>
            <a:ext cx="118872" cy="118872"/>
          </a:xfrm>
          <a:prstGeom prst="ellipse">
            <a:avLst/>
          </a:prstGeom>
          <a:solidFill>
            <a:srgbClr val="E06C75"/>
          </a:solidFill>
          <a:ln/>
        </p:spPr>
      </p:sp>
      <p:sp>
        <p:nvSpPr>
          <p:cNvPr id="8" name="Shape 6"/>
          <p:cNvSpPr/>
          <p:nvPr/>
        </p:nvSpPr>
        <p:spPr>
          <a:xfrm>
            <a:off x="1005840" y="2244852"/>
            <a:ext cx="118872" cy="118872"/>
          </a:xfrm>
          <a:prstGeom prst="ellipse">
            <a:avLst/>
          </a:prstGeom>
          <a:solidFill>
            <a:srgbClr val="F0DB4F"/>
          </a:solidFill>
          <a:ln/>
        </p:spPr>
      </p:sp>
      <p:sp>
        <p:nvSpPr>
          <p:cNvPr id="9" name="Shape 7"/>
          <p:cNvSpPr/>
          <p:nvPr/>
        </p:nvSpPr>
        <p:spPr>
          <a:xfrm>
            <a:off x="1207008" y="2244852"/>
            <a:ext cx="118872" cy="118872"/>
          </a:xfrm>
          <a:prstGeom prst="ellipse">
            <a:avLst/>
          </a:prstGeom>
          <a:solidFill>
            <a:srgbClr val="27C93F"/>
          </a:solidFill>
          <a:ln/>
        </p:spPr>
      </p:sp>
      <p:sp>
        <p:nvSpPr>
          <p:cNvPr id="10" name="Text 8"/>
          <p:cNvSpPr/>
          <p:nvPr/>
        </p:nvSpPr>
        <p:spPr>
          <a:xfrm>
            <a:off x="1463040" y="2148840"/>
            <a:ext cx="98755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config.js</a:t>
            </a:r>
            <a:endParaRPr lang="en-US" sz="1050" dirty="0"/>
          </a:p>
        </p:txBody>
      </p:sp>
      <p:sp>
        <p:nvSpPr>
          <p:cNvPr id="11" name="Text 9"/>
          <p:cNvSpPr/>
          <p:nvPr/>
        </p:nvSpPr>
        <p:spPr>
          <a:xfrm>
            <a:off x="868680" y="2569464"/>
            <a:ext cx="10424160" cy="3246120"/>
          </a:xfrm>
          <a:prstGeom prst="rect">
            <a:avLst/>
          </a:prstGeom>
          <a:noFill/>
          <a:ln/>
        </p:spPr>
        <p:txBody>
          <a:bodyPr wrap="square" lIns="0" tIns="0" rIns="0" bIns="0" rtlCol="0" anchor="t"/>
          <a:lstStyle/>
          <a:p>
            <a:pPr indent="0" marL="0">
              <a:lnSpc>
                <a:spcPct val="122000"/>
              </a:lnSpc>
              <a:buNone/>
            </a:pPr>
            <a:r>
              <a:rPr lang="en-US" sz="1300" i="1" dirty="0">
                <a:solidFill>
                  <a:srgbClr val="E06C75"/>
                </a:solidFill>
                <a:latin typeface="Courier New" pitchFamily="34" charset="0"/>
                <a:ea typeface="Courier New" pitchFamily="34" charset="-122"/>
                <a:cs typeface="Courier New" pitchFamily="34" charset="-120"/>
              </a:rPr>
              <a:t>// ❌ silent bug — var is hoisted as undefined, no error thrown</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console.log(</a:t>
            </a:r>
            <a:pPr indent="0" marL="0">
              <a:lnSpc>
                <a:spcPct val="122000"/>
              </a:lnSpc>
              <a:buNone/>
            </a:pPr>
            <a:r>
              <a:rPr lang="en-US" sz="1300" dirty="0">
                <a:solidFill>
                  <a:srgbClr val="7EC699"/>
                </a:solidFill>
                <a:latin typeface="Courier New" pitchFamily="34" charset="0"/>
                <a:ea typeface="Courier New" pitchFamily="34" charset="-122"/>
                <a:cs typeface="Courier New" pitchFamily="34" charset="-120"/>
              </a:rPr>
              <a:t>'API base:'</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API_BASE);  </a:t>
            </a:r>
            <a:pPr indent="0" marL="0">
              <a:lnSpc>
                <a:spcPct val="122000"/>
              </a:lnSpc>
              <a:buNone/>
            </a:pPr>
            <a:r>
              <a:rPr lang="en-US" sz="1300" i="1" dirty="0">
                <a:solidFill>
                  <a:srgbClr val="E06C75"/>
                </a:solidFill>
                <a:latin typeface="Courier New" pitchFamily="34" charset="0"/>
                <a:ea typeface="Courier New" pitchFamily="34" charset="-122"/>
                <a:cs typeface="Courier New" pitchFamily="34" charset="-120"/>
              </a:rPr>
              <a:t>// undefined</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var</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API_BASE = </a:t>
            </a:r>
            <a:pPr indent="0" marL="0">
              <a:lnSpc>
                <a:spcPct val="122000"/>
              </a:lnSpc>
              <a:buNone/>
            </a:pPr>
            <a:r>
              <a:rPr lang="en-US" sz="1300" dirty="0">
                <a:solidFill>
                  <a:srgbClr val="7EC699"/>
                </a:solidFill>
                <a:latin typeface="Courier New" pitchFamily="34" charset="0"/>
                <a:ea typeface="Courier New" pitchFamily="34" charset="-122"/>
                <a:cs typeface="Courier New" pitchFamily="34" charset="-120"/>
              </a:rPr>
              <a:t>'https://api.shop.com'</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i="1" dirty="0">
                <a:solidFill>
                  <a:srgbClr val="7EC699"/>
                </a:solidFill>
                <a:latin typeface="Courier New" pitchFamily="34" charset="0"/>
                <a:ea typeface="Courier New" pitchFamily="34" charset="-122"/>
                <a:cs typeface="Courier New" pitchFamily="34" charset="-120"/>
              </a:rPr>
              <a:t>// ✅ TDZ catches the same mistake immediately</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try</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console.log(userRole);</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catch</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(e)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console.log(e.message);</a:t>
            </a:r>
            <a:endParaRPr lang="en-US" sz="1300" dirty="0"/>
          </a:p>
          <a:p>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 Cannot access 'userRole' before initialization</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let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userRole = </a:t>
            </a:r>
            <a:pPr indent="0" marL="0">
              <a:lnSpc>
                <a:spcPct val="122000"/>
              </a:lnSpc>
              <a:buNone/>
            </a:pPr>
            <a:r>
              <a:rPr lang="en-US" sz="1300" dirty="0">
                <a:solidFill>
                  <a:srgbClr val="7EC699"/>
                </a:solidFill>
                <a:latin typeface="Courier New" pitchFamily="34" charset="0"/>
                <a:ea typeface="Courier New" pitchFamily="34" charset="-122"/>
                <a:cs typeface="Courier New" pitchFamily="34" charset="-120"/>
              </a:rPr>
              <a:t>'admin'</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p:txBody>
      </p:sp>
      <p:sp>
        <p:nvSpPr>
          <p:cNvPr id="12" name="Shape 10"/>
          <p:cNvSpPr/>
          <p:nvPr/>
        </p:nvSpPr>
        <p:spPr>
          <a:xfrm>
            <a:off x="640080" y="6080760"/>
            <a:ext cx="10881360" cy="502920"/>
          </a:xfrm>
          <a:prstGeom prst="roundRect">
            <a:avLst>
              <a:gd name="adj" fmla="val 10909"/>
            </a:avLst>
          </a:prstGeom>
          <a:solidFill>
            <a:srgbClr val="FFF6D9"/>
          </a:solidFill>
          <a:ln w="12700">
            <a:solidFill>
              <a:srgbClr val="F0DB4F"/>
            </a:solidFill>
            <a:prstDash val="solid"/>
          </a:ln>
        </p:spPr>
      </p:sp>
      <p:sp>
        <p:nvSpPr>
          <p:cNvPr id="13" name="Text 11"/>
          <p:cNvSpPr/>
          <p:nvPr/>
        </p:nvSpPr>
        <p:spPr>
          <a:xfrm>
            <a:off x="868680" y="6080760"/>
            <a:ext cx="10424160" cy="502920"/>
          </a:xfrm>
          <a:prstGeom prst="rect">
            <a:avLst/>
          </a:prstGeom>
          <a:noFill/>
          <a:ln/>
        </p:spPr>
        <p:txBody>
          <a:bodyPr wrap="square" lIns="0" tIns="0" rIns="0" bIns="0" rtlCol="0" anchor="ctr"/>
          <a:lstStyle/>
          <a:p>
            <a:pPr indent="0" marL="0">
              <a:buNone/>
            </a:pPr>
            <a:r>
              <a:rPr lang="en-US" sz="1250" b="1" dirty="0">
                <a:solidFill>
                  <a:srgbClr val="6B5900"/>
                </a:solidFill>
                <a:latin typeface="Calibri" pitchFamily="34" charset="0"/>
                <a:ea typeface="Calibri" pitchFamily="34" charset="-122"/>
                <a:cs typeface="Calibri" pitchFamily="34" charset="-120"/>
              </a:rPr>
              <a:t>Why it matters:  </a:t>
            </a:r>
            <a:pPr indent="0" marL="0">
              <a:buNone/>
            </a:pPr>
            <a:r>
              <a:rPr lang="en-US" sz="1250" i="1" dirty="0">
                <a:solidFill>
                  <a:srgbClr val="6B5900"/>
                </a:solidFill>
                <a:latin typeface="Calibri" pitchFamily="34" charset="0"/>
                <a:ea typeface="Calibri" pitchFamily="34" charset="-122"/>
                <a:cs typeface="Calibri" pitchFamily="34" charset="-120"/>
              </a:rPr>
              <a:t>Prefer let/const over var: a loud TDZ error during development beats a silent 'undefined' that only surfaces as a bug in production.</a:t>
            </a:r>
            <a:endParaRPr lang="en-US" sz="1250" dirty="0"/>
          </a:p>
        </p:txBody>
      </p:sp>
      <p:sp>
        <p:nvSpPr>
          <p:cNvPr id="14" name="Text 12"/>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02-CLOSURES</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Closures</a:t>
            </a:r>
            <a:endParaRPr lang="en-US" sz="2800" dirty="0"/>
          </a:p>
        </p:txBody>
      </p:sp>
      <p:sp>
        <p:nvSpPr>
          <p:cNvPr id="4" name="Shape 2"/>
          <p:cNvSpPr/>
          <p:nvPr/>
        </p:nvSpPr>
        <p:spPr>
          <a:xfrm>
            <a:off x="640080" y="1554480"/>
            <a:ext cx="5029200" cy="1600200"/>
          </a:xfrm>
          <a:prstGeom prst="roundRect">
            <a:avLst>
              <a:gd name="adj" fmla="val 4571"/>
            </a:avLst>
          </a:prstGeom>
          <a:solidFill>
            <a:srgbClr val="FFFFFF"/>
          </a:solidFill>
          <a:ln w="12700">
            <a:solidFill>
              <a:srgbClr val="E3E5E8"/>
            </a:solidFill>
            <a:prstDash val="solid"/>
          </a:ln>
        </p:spPr>
      </p:sp>
      <p:sp>
        <p:nvSpPr>
          <p:cNvPr id="5" name="Text 3"/>
          <p:cNvSpPr/>
          <p:nvPr/>
        </p:nvSpPr>
        <p:spPr>
          <a:xfrm>
            <a:off x="868680" y="169164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1947672"/>
            <a:ext cx="4572000" cy="114300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A closure is a function bundled with references to its surrounding (lexical) scope. The inner function keeps access to the outer variables even after the outer function has already returned.</a:t>
            </a:r>
            <a:endParaRPr lang="en-US" sz="1350" dirty="0"/>
          </a:p>
        </p:txBody>
      </p:sp>
      <p:sp>
        <p:nvSpPr>
          <p:cNvPr id="7" name="Shape 5"/>
          <p:cNvSpPr/>
          <p:nvPr/>
        </p:nvSpPr>
        <p:spPr>
          <a:xfrm>
            <a:off x="640080" y="3337560"/>
            <a:ext cx="5029200" cy="2880360"/>
          </a:xfrm>
          <a:prstGeom prst="roundRect">
            <a:avLst>
              <a:gd name="adj" fmla="val 2540"/>
            </a:avLst>
          </a:prstGeom>
          <a:solidFill>
            <a:srgbClr val="FFFFFF"/>
          </a:solidFill>
          <a:ln w="12700">
            <a:solidFill>
              <a:srgbClr val="E3E5E8"/>
            </a:solidFill>
            <a:prstDash val="solid"/>
          </a:ln>
        </p:spPr>
      </p:sp>
      <p:sp>
        <p:nvSpPr>
          <p:cNvPr id="8" name="Text 6"/>
          <p:cNvSpPr/>
          <p:nvPr/>
        </p:nvSpPr>
        <p:spPr>
          <a:xfrm>
            <a:off x="868680" y="3474720"/>
            <a:ext cx="45720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KEY POINTS</a:t>
            </a:r>
            <a:endParaRPr lang="en-US" sz="1100" dirty="0"/>
          </a:p>
        </p:txBody>
      </p:sp>
      <p:sp>
        <p:nvSpPr>
          <p:cNvPr id="9" name="Text 7"/>
          <p:cNvSpPr/>
          <p:nvPr/>
        </p:nvSpPr>
        <p:spPr>
          <a:xfrm>
            <a:off x="868680" y="3749040"/>
            <a:ext cx="4617720" cy="23774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Lets a function 'remember' variables from where it was created</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Perfect for private state — no global or public access needed</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Powers patterns like counters, bank accounts, and memoized caches</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Each call to the outer function creates a fresh, independent closure</a:t>
            </a:r>
            <a:endParaRPr lang="en-US" sz="1300" dirty="0"/>
          </a:p>
        </p:txBody>
      </p:sp>
      <p:sp>
        <p:nvSpPr>
          <p:cNvPr id="10" name="Text 8"/>
          <p:cNvSpPr/>
          <p:nvPr/>
        </p:nvSpPr>
        <p:spPr>
          <a:xfrm>
            <a:off x="5943600" y="141732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EXAMPLE 1</a:t>
            </a:r>
            <a:endParaRPr lang="en-US" sz="1100" dirty="0"/>
          </a:p>
        </p:txBody>
      </p:sp>
      <p:sp>
        <p:nvSpPr>
          <p:cNvPr id="11" name="Shape 9"/>
          <p:cNvSpPr/>
          <p:nvPr/>
        </p:nvSpPr>
        <p:spPr>
          <a:xfrm>
            <a:off x="5943600" y="1691640"/>
            <a:ext cx="5623560" cy="4526280"/>
          </a:xfrm>
          <a:prstGeom prst="roundRect">
            <a:avLst>
              <a:gd name="adj" fmla="val 1616"/>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5943600" y="1691640"/>
            <a:ext cx="5623560" cy="310896"/>
          </a:xfrm>
          <a:prstGeom prst="rect">
            <a:avLst/>
          </a:prstGeom>
          <a:solidFill>
            <a:srgbClr val="161B22"/>
          </a:solidFill>
          <a:ln/>
        </p:spPr>
      </p:sp>
      <p:sp>
        <p:nvSpPr>
          <p:cNvPr id="13" name="Shape 11"/>
          <p:cNvSpPr/>
          <p:nvPr/>
        </p:nvSpPr>
        <p:spPr>
          <a:xfrm>
            <a:off x="6108192" y="1787652"/>
            <a:ext cx="118872" cy="118872"/>
          </a:xfrm>
          <a:prstGeom prst="ellipse">
            <a:avLst/>
          </a:prstGeom>
          <a:solidFill>
            <a:srgbClr val="E06C75"/>
          </a:solidFill>
          <a:ln/>
        </p:spPr>
      </p:sp>
      <p:sp>
        <p:nvSpPr>
          <p:cNvPr id="14" name="Shape 12"/>
          <p:cNvSpPr/>
          <p:nvPr/>
        </p:nvSpPr>
        <p:spPr>
          <a:xfrm>
            <a:off x="6309360" y="1787652"/>
            <a:ext cx="118872" cy="118872"/>
          </a:xfrm>
          <a:prstGeom prst="ellipse">
            <a:avLst/>
          </a:prstGeom>
          <a:solidFill>
            <a:srgbClr val="F0DB4F"/>
          </a:solidFill>
          <a:ln/>
        </p:spPr>
      </p:sp>
      <p:sp>
        <p:nvSpPr>
          <p:cNvPr id="15" name="Shape 13"/>
          <p:cNvSpPr/>
          <p:nvPr/>
        </p:nvSpPr>
        <p:spPr>
          <a:xfrm>
            <a:off x="6510528" y="1787652"/>
            <a:ext cx="118872" cy="118872"/>
          </a:xfrm>
          <a:prstGeom prst="ellipse">
            <a:avLst/>
          </a:prstGeom>
          <a:solidFill>
            <a:srgbClr val="27C93F"/>
          </a:solidFill>
          <a:ln/>
        </p:spPr>
      </p:sp>
      <p:sp>
        <p:nvSpPr>
          <p:cNvPr id="16" name="Text 14"/>
          <p:cNvSpPr/>
          <p:nvPr/>
        </p:nvSpPr>
        <p:spPr>
          <a:xfrm>
            <a:off x="6766560" y="1691640"/>
            <a:ext cx="46177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7" name="Text 15"/>
          <p:cNvSpPr/>
          <p:nvPr/>
        </p:nvSpPr>
        <p:spPr>
          <a:xfrm>
            <a:off x="6172200" y="2112264"/>
            <a:ext cx="5166360" cy="3977640"/>
          </a:xfrm>
          <a:prstGeom prst="rect">
            <a:avLst/>
          </a:prstGeom>
          <a:noFill/>
          <a:ln/>
        </p:spPr>
        <p:txBody>
          <a:bodyPr wrap="square" lIns="0" tIns="0" rIns="0" bIns="0" rtlCol="0" anchor="t"/>
          <a:lstStyle/>
          <a:p>
            <a:pPr indent="0" marL="0">
              <a:lnSpc>
                <a:spcPct val="122000"/>
              </a:lnSpc>
              <a:buNone/>
            </a:pPr>
            <a:r>
              <a:rPr lang="en-US" sz="120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createBankAccount(initialBalance) {</a:t>
            </a:r>
            <a:endParaRPr lang="en-US" sz="1200" dirty="0"/>
          </a:p>
          <a:p>
            <a:pPr indent="0" marL="0">
              <a:lnSpc>
                <a:spcPct val="122000"/>
              </a:lnSpc>
              <a:buNone/>
            </a:pPr>
            <a:r>
              <a:rPr lang="en-US" sz="1200" dirty="0">
                <a:solidFill>
                  <a:srgbClr val="61AFEF"/>
                </a:solidFill>
                <a:latin typeface="Courier New" pitchFamily="34" charset="0"/>
                <a:ea typeface="Courier New" pitchFamily="34" charset="-122"/>
                <a:cs typeface="Courier New" pitchFamily="34" charset="-120"/>
              </a:rPr>
              <a:t>  let</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balance = initialBalance;</a:t>
            </a:r>
            <a:endParaRPr lang="en-US" sz="1200" dirty="0"/>
          </a:p>
          <a:p>
            <a:pPr indent="0" marL="0">
              <a:lnSpc>
                <a:spcPct val="122000"/>
              </a:lnSpc>
              <a:buNone/>
            </a:pPr>
            <a:r>
              <a:rPr lang="en-US" sz="120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deposit(amount) {</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balance += amount;</a:t>
            </a:r>
            <a:endParaRPr lang="en-US" sz="1200" dirty="0"/>
          </a:p>
          <a:p>
            <a:pPr indent="0" marL="0">
              <a:lnSpc>
                <a:spcPct val="122000"/>
              </a:lnSpc>
              <a:buNone/>
            </a:pPr>
            <a:r>
              <a:rPr lang="en-US" sz="120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balance;</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getBalance: () =&gt; balance,</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a:t>
            </a:r>
            <a:endParaRPr lang="en-US" sz="1200" dirty="0"/>
          </a:p>
          <a:p>
            <a:pPr indent="0" marL="0">
              <a:lnSpc>
                <a:spcPct val="122000"/>
              </a:lnSpc>
              <a:buNone/>
            </a:pPr>
            <a:endParaRPr lang="en-US" sz="1200" dirty="0"/>
          </a:p>
          <a:p>
            <a:pPr indent="0" marL="0">
              <a:lnSpc>
                <a:spcPct val="122000"/>
              </a:lnSpc>
              <a:buNone/>
            </a:pPr>
            <a:r>
              <a:rPr lang="en-US" sz="12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account = createBankAccount(</a:t>
            </a:r>
            <a:pPr indent="0" marL="0">
              <a:lnSpc>
                <a:spcPct val="122000"/>
              </a:lnSpc>
              <a:buNone/>
            </a:pPr>
            <a:r>
              <a:rPr lang="en-US" sz="1200" dirty="0">
                <a:solidFill>
                  <a:srgbClr val="F0DB4F"/>
                </a:solidFill>
                <a:latin typeface="Courier New" pitchFamily="34" charset="0"/>
                <a:ea typeface="Courier New" pitchFamily="34" charset="-122"/>
                <a:cs typeface="Courier New" pitchFamily="34" charset="-120"/>
              </a:rPr>
              <a:t>1000</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account.deposit(</a:t>
            </a:r>
            <a:pPr indent="0" marL="0">
              <a:lnSpc>
                <a:spcPct val="122000"/>
              </a:lnSpc>
              <a:buNone/>
            </a:pPr>
            <a:r>
              <a:rPr lang="en-US" sz="1200" dirty="0">
                <a:solidFill>
                  <a:srgbClr val="F0DB4F"/>
                </a:solidFill>
                <a:latin typeface="Courier New" pitchFamily="34" charset="0"/>
                <a:ea typeface="Courier New" pitchFamily="34" charset="-122"/>
                <a:cs typeface="Courier New" pitchFamily="34" charset="-120"/>
              </a:rPr>
              <a:t>500</a:t>
            </a:r>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200" i="1" dirty="0">
                <a:solidFill>
                  <a:srgbClr val="6E7681"/>
                </a:solidFill>
                <a:latin typeface="Courier New" pitchFamily="34" charset="0"/>
                <a:ea typeface="Courier New" pitchFamily="34" charset="-122"/>
                <a:cs typeface="Courier New" pitchFamily="34" charset="-120"/>
              </a:rPr>
              <a:t>// 1500</a:t>
            </a:r>
            <a:endParaRPr lang="en-US" sz="1200" dirty="0"/>
          </a:p>
          <a:p>
            <a:pPr indent="0" marL="0">
              <a:lnSpc>
                <a:spcPct val="122000"/>
              </a:lnSpc>
              <a:buNone/>
            </a:pPr>
            <a:r>
              <a:rPr lang="en-US" sz="1200" dirty="0">
                <a:solidFill>
                  <a:srgbClr val="E6E6E6"/>
                </a:solidFill>
                <a:latin typeface="Courier New" pitchFamily="34" charset="0"/>
                <a:ea typeface="Courier New" pitchFamily="34" charset="-122"/>
                <a:cs typeface="Courier New" pitchFamily="34" charset="-120"/>
              </a:rPr>
              <a:t>account.balance;   </a:t>
            </a:r>
            <a:pPr indent="0" marL="0">
              <a:lnSpc>
                <a:spcPct val="122000"/>
              </a:lnSpc>
              <a:buNone/>
            </a:pPr>
            <a:r>
              <a:rPr lang="en-US" sz="1200" i="1" dirty="0">
                <a:solidFill>
                  <a:srgbClr val="E06C75"/>
                </a:solidFill>
                <a:latin typeface="Courier New" pitchFamily="34" charset="0"/>
                <a:ea typeface="Courier New" pitchFamily="34" charset="-122"/>
                <a:cs typeface="Courier New" pitchFamily="34" charset="-120"/>
              </a:rPr>
              <a:t>// undefined!</a:t>
            </a:r>
            <a:endParaRPr lang="en-US" sz="1200" dirty="0"/>
          </a:p>
        </p:txBody>
      </p:sp>
      <p:sp>
        <p:nvSpPr>
          <p:cNvPr id="18" name="Text 16"/>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6C75"/>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Example 2 — Click Handlers for a Rendered Product List</a:t>
            </a:r>
            <a:endParaRPr lang="en-US" sz="28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buNone/>
            </a:pPr>
            <a:r>
              <a:rPr lang="en-US" sz="1350" dirty="0">
                <a:solidFill>
                  <a:srgbClr val="1B1F24"/>
                </a:solidFill>
                <a:latin typeface="Calibri" pitchFamily="34" charset="0"/>
                <a:ea typeface="Calibri" pitchFamily="34" charset="-122"/>
                <a:cs typeface="Calibri" pitchFamily="34" charset="-120"/>
              </a:rPr>
              <a:t>A storefront renders a list of product buttons in a loop and attaches a click handler to each. With var, every handler shares one variable; with let, each handler closes over its own index — the exact bug from Day 1's practice.</a:t>
            </a:r>
            <a:endParaRPr lang="en-US" sz="1350" dirty="0"/>
          </a:p>
        </p:txBody>
      </p:sp>
      <p:sp>
        <p:nvSpPr>
          <p:cNvPr id="5" name="Shape 3"/>
          <p:cNvSpPr/>
          <p:nvPr/>
        </p:nvSpPr>
        <p:spPr>
          <a:xfrm>
            <a:off x="640080" y="2148840"/>
            <a:ext cx="10881360" cy="3794760"/>
          </a:xfrm>
          <a:prstGeom prst="roundRect">
            <a:avLst>
              <a:gd name="adj" fmla="val 1928"/>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640080" y="2148840"/>
            <a:ext cx="10881360" cy="310896"/>
          </a:xfrm>
          <a:prstGeom prst="rect">
            <a:avLst/>
          </a:prstGeom>
          <a:solidFill>
            <a:srgbClr val="161B22"/>
          </a:solidFill>
          <a:ln/>
        </p:spPr>
      </p:sp>
      <p:sp>
        <p:nvSpPr>
          <p:cNvPr id="7" name="Shape 5"/>
          <p:cNvSpPr/>
          <p:nvPr/>
        </p:nvSpPr>
        <p:spPr>
          <a:xfrm>
            <a:off x="804672" y="2244852"/>
            <a:ext cx="118872" cy="118872"/>
          </a:xfrm>
          <a:prstGeom prst="ellipse">
            <a:avLst/>
          </a:prstGeom>
          <a:solidFill>
            <a:srgbClr val="E06C75"/>
          </a:solidFill>
          <a:ln/>
        </p:spPr>
      </p:sp>
      <p:sp>
        <p:nvSpPr>
          <p:cNvPr id="8" name="Shape 6"/>
          <p:cNvSpPr/>
          <p:nvPr/>
        </p:nvSpPr>
        <p:spPr>
          <a:xfrm>
            <a:off x="1005840" y="2244852"/>
            <a:ext cx="118872" cy="118872"/>
          </a:xfrm>
          <a:prstGeom prst="ellipse">
            <a:avLst/>
          </a:prstGeom>
          <a:solidFill>
            <a:srgbClr val="F0DB4F"/>
          </a:solidFill>
          <a:ln/>
        </p:spPr>
      </p:sp>
      <p:sp>
        <p:nvSpPr>
          <p:cNvPr id="9" name="Shape 7"/>
          <p:cNvSpPr/>
          <p:nvPr/>
        </p:nvSpPr>
        <p:spPr>
          <a:xfrm>
            <a:off x="1207008" y="2244852"/>
            <a:ext cx="118872" cy="118872"/>
          </a:xfrm>
          <a:prstGeom prst="ellipse">
            <a:avLst/>
          </a:prstGeom>
          <a:solidFill>
            <a:srgbClr val="27C93F"/>
          </a:solidFill>
          <a:ln/>
        </p:spPr>
      </p:sp>
      <p:sp>
        <p:nvSpPr>
          <p:cNvPr id="10" name="Text 8"/>
          <p:cNvSpPr/>
          <p:nvPr/>
        </p:nvSpPr>
        <p:spPr>
          <a:xfrm>
            <a:off x="1463040" y="2148840"/>
            <a:ext cx="98755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product-list.js</a:t>
            </a:r>
            <a:endParaRPr lang="en-US" sz="1050" dirty="0"/>
          </a:p>
        </p:txBody>
      </p:sp>
      <p:sp>
        <p:nvSpPr>
          <p:cNvPr id="11" name="Text 9"/>
          <p:cNvSpPr/>
          <p:nvPr/>
        </p:nvSpPr>
        <p:spPr>
          <a:xfrm>
            <a:off x="868680" y="2569464"/>
            <a:ext cx="10424160" cy="3246120"/>
          </a:xfrm>
          <a:prstGeom prst="rect">
            <a:avLst/>
          </a:prstGeom>
          <a:noFill/>
          <a:ln/>
        </p:spPr>
        <p:txBody>
          <a:bodyPr wrap="square" lIns="0" tIns="0" rIns="0" bIns="0" rtlCol="0" anchor="t"/>
          <a:lstStyle/>
          <a:p>
            <a:pPr indent="0" marL="0">
              <a:lnSpc>
                <a:spcPct val="122000"/>
              </a:lnSpc>
              <a:buNone/>
            </a:pPr>
            <a:r>
              <a:rPr lang="en-US" sz="1300" i="1" dirty="0">
                <a:solidFill>
                  <a:srgbClr val="E06C75"/>
                </a:solidFill>
                <a:latin typeface="Courier New" pitchFamily="34" charset="0"/>
                <a:ea typeface="Courier New" pitchFamily="34" charset="-122"/>
                <a:cs typeface="Courier New" pitchFamily="34" charset="-120"/>
              </a:rPr>
              <a:t>// ❌ every button alerts the SAME last index</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for</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var</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i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i &lt; buttons.length; i++)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buttons[i].onclick = () =&gt;</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alert(`Product ${i}`);  </a:t>
            </a:r>
            <a:pPr indent="0" marL="0">
              <a:lnSpc>
                <a:spcPct val="122000"/>
              </a:lnSpc>
              <a:buNone/>
            </a:pPr>
            <a:r>
              <a:rPr lang="en-US" sz="1300" i="1" dirty="0">
                <a:solidFill>
                  <a:srgbClr val="E06C75"/>
                </a:solidFill>
                <a:latin typeface="Courier New" pitchFamily="34" charset="0"/>
                <a:ea typeface="Courier New" pitchFamily="34" charset="-122"/>
                <a:cs typeface="Courier New" pitchFamily="34" charset="-120"/>
              </a:rPr>
              <a:t>// always the last i</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i="1" dirty="0">
                <a:solidFill>
                  <a:srgbClr val="7EC699"/>
                </a:solidFill>
                <a:latin typeface="Courier New" pitchFamily="34" charset="0"/>
                <a:ea typeface="Courier New" pitchFamily="34" charset="-122"/>
                <a:cs typeface="Courier New" pitchFamily="34" charset="-120"/>
              </a:rPr>
              <a:t>// ✅ each handler closes over its own i</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for</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let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i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i &lt; buttons.length; i++)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buttons[i].onclick = () =&gt;</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alert(`Product ${i}`);  </a:t>
            </a:r>
            <a:pPr indent="0" marL="0">
              <a:lnSpc>
                <a:spcPct val="122000"/>
              </a:lnSpc>
              <a:buNone/>
            </a:pPr>
            <a:r>
              <a:rPr lang="en-US" sz="1300" i="1" dirty="0">
                <a:solidFill>
                  <a:srgbClr val="7EC699"/>
                </a:solidFill>
                <a:latin typeface="Courier New" pitchFamily="34" charset="0"/>
                <a:ea typeface="Courier New" pitchFamily="34" charset="-122"/>
                <a:cs typeface="Courier New" pitchFamily="34" charset="-120"/>
              </a:rPr>
              <a:t>// correct index each time</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p:txBody>
      </p:sp>
      <p:sp>
        <p:nvSpPr>
          <p:cNvPr id="12" name="Shape 10"/>
          <p:cNvSpPr/>
          <p:nvPr/>
        </p:nvSpPr>
        <p:spPr>
          <a:xfrm>
            <a:off x="640080" y="6080760"/>
            <a:ext cx="10881360" cy="502920"/>
          </a:xfrm>
          <a:prstGeom prst="roundRect">
            <a:avLst>
              <a:gd name="adj" fmla="val 10909"/>
            </a:avLst>
          </a:prstGeom>
          <a:solidFill>
            <a:srgbClr val="FFF6D9"/>
          </a:solidFill>
          <a:ln w="12700">
            <a:solidFill>
              <a:srgbClr val="F0DB4F"/>
            </a:solidFill>
            <a:prstDash val="solid"/>
          </a:ln>
        </p:spPr>
      </p:sp>
      <p:sp>
        <p:nvSpPr>
          <p:cNvPr id="13" name="Text 11"/>
          <p:cNvSpPr/>
          <p:nvPr/>
        </p:nvSpPr>
        <p:spPr>
          <a:xfrm>
            <a:off x="868680" y="6080760"/>
            <a:ext cx="10424160" cy="502920"/>
          </a:xfrm>
          <a:prstGeom prst="rect">
            <a:avLst/>
          </a:prstGeom>
          <a:noFill/>
          <a:ln/>
        </p:spPr>
        <p:txBody>
          <a:bodyPr wrap="square" lIns="0" tIns="0" rIns="0" bIns="0" rtlCol="0" anchor="ctr"/>
          <a:lstStyle/>
          <a:p>
            <a:pPr indent="0" marL="0">
              <a:buNone/>
            </a:pPr>
            <a:r>
              <a:rPr lang="en-US" sz="1250" b="1" dirty="0">
                <a:solidFill>
                  <a:srgbClr val="6B5900"/>
                </a:solidFill>
                <a:latin typeface="Calibri" pitchFamily="34" charset="0"/>
                <a:ea typeface="Calibri" pitchFamily="34" charset="-122"/>
                <a:cs typeface="Calibri" pitchFamily="34" charset="-120"/>
              </a:rPr>
              <a:t>Why it matters:  </a:t>
            </a:r>
            <a:pPr indent="0" marL="0">
              <a:buNone/>
            </a:pPr>
            <a:r>
              <a:rPr lang="en-US" sz="1250" i="1" dirty="0">
                <a:solidFill>
                  <a:srgbClr val="6B5900"/>
                </a:solidFill>
                <a:latin typeface="Calibri" pitchFamily="34" charset="0"/>
                <a:ea typeface="Calibri" pitchFamily="34" charset="-122"/>
                <a:cs typeface="Calibri" pitchFamily="34" charset="-120"/>
              </a:rPr>
              <a:t>This exact bug shows up anywhere handlers are attached inside a loop — pagination buttons, table row actions, generated form fields.</a:t>
            </a:r>
            <a:endParaRPr lang="en-US" sz="1250" dirty="0"/>
          </a:p>
        </p:txBody>
      </p:sp>
      <p:sp>
        <p:nvSpPr>
          <p:cNvPr id="14" name="Text 12"/>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03-IIFE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IIFE — Immediately Invoked Function Expression</a:t>
            </a:r>
            <a:endParaRPr lang="en-US" sz="2800" dirty="0"/>
          </a:p>
        </p:txBody>
      </p:sp>
      <p:sp>
        <p:nvSpPr>
          <p:cNvPr id="4" name="Shape 2"/>
          <p:cNvSpPr/>
          <p:nvPr/>
        </p:nvSpPr>
        <p:spPr>
          <a:xfrm>
            <a:off x="640080" y="1554480"/>
            <a:ext cx="5029200" cy="1600200"/>
          </a:xfrm>
          <a:prstGeom prst="roundRect">
            <a:avLst>
              <a:gd name="adj" fmla="val 4571"/>
            </a:avLst>
          </a:prstGeom>
          <a:solidFill>
            <a:srgbClr val="FFFFFF"/>
          </a:solidFill>
          <a:ln w="12700">
            <a:solidFill>
              <a:srgbClr val="E3E5E8"/>
            </a:solidFill>
            <a:prstDash val="solid"/>
          </a:ln>
        </p:spPr>
      </p:sp>
      <p:sp>
        <p:nvSpPr>
          <p:cNvPr id="5" name="Text 3"/>
          <p:cNvSpPr/>
          <p:nvPr/>
        </p:nvSpPr>
        <p:spPr>
          <a:xfrm>
            <a:off x="868680" y="169164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1947672"/>
            <a:ext cx="4572000" cy="114300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A function expression that is defined and executed immediately, in one step. It creates its own private scope, so any variables inside never leak into the surrounding code.</a:t>
            </a:r>
            <a:endParaRPr lang="en-US" sz="1350" dirty="0"/>
          </a:p>
        </p:txBody>
      </p:sp>
      <p:sp>
        <p:nvSpPr>
          <p:cNvPr id="7" name="Shape 5"/>
          <p:cNvSpPr/>
          <p:nvPr/>
        </p:nvSpPr>
        <p:spPr>
          <a:xfrm>
            <a:off x="640080" y="3337560"/>
            <a:ext cx="5029200" cy="2880360"/>
          </a:xfrm>
          <a:prstGeom prst="roundRect">
            <a:avLst>
              <a:gd name="adj" fmla="val 2540"/>
            </a:avLst>
          </a:prstGeom>
          <a:solidFill>
            <a:srgbClr val="FFFFFF"/>
          </a:solidFill>
          <a:ln w="12700">
            <a:solidFill>
              <a:srgbClr val="E3E5E8"/>
            </a:solidFill>
            <a:prstDash val="solid"/>
          </a:ln>
        </p:spPr>
      </p:sp>
      <p:sp>
        <p:nvSpPr>
          <p:cNvPr id="8" name="Text 6"/>
          <p:cNvSpPr/>
          <p:nvPr/>
        </p:nvSpPr>
        <p:spPr>
          <a:xfrm>
            <a:off x="868680" y="3474720"/>
            <a:ext cx="45720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KEY POINTS</a:t>
            </a:r>
            <a:endParaRPr lang="en-US" sz="1100" dirty="0"/>
          </a:p>
        </p:txBody>
      </p:sp>
      <p:sp>
        <p:nvSpPr>
          <p:cNvPr id="9" name="Text 7"/>
          <p:cNvSpPr/>
          <p:nvPr/>
        </p:nvSpPr>
        <p:spPr>
          <a:xfrm>
            <a:off x="868680" y="3749040"/>
            <a:ext cx="4617720" cy="23774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Runs immediately — no separate call needed</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Creates an isolated scope — keeps helper variables private</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Classic way to avoid polluting the global namespace</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Precursor to today's ES Modules, which solve the same problem</a:t>
            </a:r>
            <a:endParaRPr lang="en-US" sz="1300" dirty="0"/>
          </a:p>
        </p:txBody>
      </p:sp>
      <p:sp>
        <p:nvSpPr>
          <p:cNvPr id="10" name="Text 8"/>
          <p:cNvSpPr/>
          <p:nvPr/>
        </p:nvSpPr>
        <p:spPr>
          <a:xfrm>
            <a:off x="5943600" y="141732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EXAMPLE 1</a:t>
            </a:r>
            <a:endParaRPr lang="en-US" sz="1100" dirty="0"/>
          </a:p>
        </p:txBody>
      </p:sp>
      <p:sp>
        <p:nvSpPr>
          <p:cNvPr id="11" name="Shape 9"/>
          <p:cNvSpPr/>
          <p:nvPr/>
        </p:nvSpPr>
        <p:spPr>
          <a:xfrm>
            <a:off x="5943600" y="1691640"/>
            <a:ext cx="5623560" cy="4526280"/>
          </a:xfrm>
          <a:prstGeom prst="roundRect">
            <a:avLst>
              <a:gd name="adj" fmla="val 1616"/>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5943600" y="1691640"/>
            <a:ext cx="5623560" cy="310896"/>
          </a:xfrm>
          <a:prstGeom prst="rect">
            <a:avLst/>
          </a:prstGeom>
          <a:solidFill>
            <a:srgbClr val="161B22"/>
          </a:solidFill>
          <a:ln/>
        </p:spPr>
      </p:sp>
      <p:sp>
        <p:nvSpPr>
          <p:cNvPr id="13" name="Shape 11"/>
          <p:cNvSpPr/>
          <p:nvPr/>
        </p:nvSpPr>
        <p:spPr>
          <a:xfrm>
            <a:off x="6108192" y="1787652"/>
            <a:ext cx="118872" cy="118872"/>
          </a:xfrm>
          <a:prstGeom prst="ellipse">
            <a:avLst/>
          </a:prstGeom>
          <a:solidFill>
            <a:srgbClr val="E06C75"/>
          </a:solidFill>
          <a:ln/>
        </p:spPr>
      </p:sp>
      <p:sp>
        <p:nvSpPr>
          <p:cNvPr id="14" name="Shape 12"/>
          <p:cNvSpPr/>
          <p:nvPr/>
        </p:nvSpPr>
        <p:spPr>
          <a:xfrm>
            <a:off x="6309360" y="1787652"/>
            <a:ext cx="118872" cy="118872"/>
          </a:xfrm>
          <a:prstGeom prst="ellipse">
            <a:avLst/>
          </a:prstGeom>
          <a:solidFill>
            <a:srgbClr val="F0DB4F"/>
          </a:solidFill>
          <a:ln/>
        </p:spPr>
      </p:sp>
      <p:sp>
        <p:nvSpPr>
          <p:cNvPr id="15" name="Shape 13"/>
          <p:cNvSpPr/>
          <p:nvPr/>
        </p:nvSpPr>
        <p:spPr>
          <a:xfrm>
            <a:off x="6510528" y="1787652"/>
            <a:ext cx="118872" cy="118872"/>
          </a:xfrm>
          <a:prstGeom prst="ellipse">
            <a:avLst/>
          </a:prstGeom>
          <a:solidFill>
            <a:srgbClr val="27C93F"/>
          </a:solidFill>
          <a:ln/>
        </p:spPr>
      </p:sp>
      <p:sp>
        <p:nvSpPr>
          <p:cNvPr id="16" name="Text 14"/>
          <p:cNvSpPr/>
          <p:nvPr/>
        </p:nvSpPr>
        <p:spPr>
          <a:xfrm>
            <a:off x="6766560" y="1691640"/>
            <a:ext cx="46177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7" name="Text 15"/>
          <p:cNvSpPr/>
          <p:nvPr/>
        </p:nvSpPr>
        <p:spPr>
          <a:xfrm>
            <a:off x="6172200" y="2112264"/>
            <a:ext cx="5166360" cy="3977640"/>
          </a:xfrm>
          <a:prstGeom prst="rect">
            <a:avLst/>
          </a:prstGeom>
          <a:noFill/>
          <a:ln/>
        </p:spPr>
        <p:txBody>
          <a:bodyPr wrap="square" lIns="0" tIns="0" rIns="0" bIns="0" rtlCol="0" anchor="t"/>
          <a:lstStyle/>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calculator = (</a:t>
            </a:r>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 {</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  let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total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private</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add(n) { total += n; return total;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reset() { total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calculator.add(</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10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10</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console.log(total);  </a:t>
            </a:r>
            <a:pPr indent="0" marL="0">
              <a:lnSpc>
                <a:spcPct val="122000"/>
              </a:lnSpc>
              <a:buNone/>
            </a:pPr>
            <a:r>
              <a:rPr lang="en-US" sz="1300" i="1" dirty="0">
                <a:solidFill>
                  <a:srgbClr val="E06C75"/>
                </a:solidFill>
                <a:latin typeface="Courier New" pitchFamily="34" charset="0"/>
                <a:ea typeface="Courier New" pitchFamily="34" charset="-122"/>
                <a:cs typeface="Courier New" pitchFamily="34" charset="-120"/>
              </a:rPr>
              <a:t>// ReferenceError — private!</a:t>
            </a:r>
            <a:endParaRPr lang="en-US" sz="1300" dirty="0"/>
          </a:p>
        </p:txBody>
      </p:sp>
      <p:sp>
        <p:nvSpPr>
          <p:cNvPr id="18" name="Text 16"/>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6C75"/>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Example 2 — A Self-Contained Analytics Snippet</a:t>
            </a:r>
            <a:endParaRPr lang="en-US" sz="28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buNone/>
            </a:pPr>
            <a:r>
              <a:rPr lang="en-US" sz="1350" dirty="0">
                <a:solidFill>
                  <a:srgbClr val="1B1F24"/>
                </a:solidFill>
                <a:latin typeface="Calibri" pitchFamily="34" charset="0"/>
                <a:ea typeface="Calibri" pitchFamily="34" charset="-122"/>
                <a:cs typeface="Calibri" pitchFamily="34" charset="-120"/>
              </a:rPr>
              <a:t>Third-party embed scripts (analytics, chat widgets, ad trackers) are dropped into many different sites. An IIFE lets them set up their own state and expose one safe global, without clashing with the host page's variables.</a:t>
            </a:r>
            <a:endParaRPr lang="en-US" sz="1350" dirty="0"/>
          </a:p>
        </p:txBody>
      </p:sp>
      <p:sp>
        <p:nvSpPr>
          <p:cNvPr id="5" name="Shape 3"/>
          <p:cNvSpPr/>
          <p:nvPr/>
        </p:nvSpPr>
        <p:spPr>
          <a:xfrm>
            <a:off x="640080" y="2148840"/>
            <a:ext cx="10881360" cy="3794760"/>
          </a:xfrm>
          <a:prstGeom prst="roundRect">
            <a:avLst>
              <a:gd name="adj" fmla="val 1928"/>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640080" y="2148840"/>
            <a:ext cx="10881360" cy="310896"/>
          </a:xfrm>
          <a:prstGeom prst="rect">
            <a:avLst/>
          </a:prstGeom>
          <a:solidFill>
            <a:srgbClr val="161B22"/>
          </a:solidFill>
          <a:ln/>
        </p:spPr>
      </p:sp>
      <p:sp>
        <p:nvSpPr>
          <p:cNvPr id="7" name="Shape 5"/>
          <p:cNvSpPr/>
          <p:nvPr/>
        </p:nvSpPr>
        <p:spPr>
          <a:xfrm>
            <a:off x="804672" y="2244852"/>
            <a:ext cx="118872" cy="118872"/>
          </a:xfrm>
          <a:prstGeom prst="ellipse">
            <a:avLst/>
          </a:prstGeom>
          <a:solidFill>
            <a:srgbClr val="E06C75"/>
          </a:solidFill>
          <a:ln/>
        </p:spPr>
      </p:sp>
      <p:sp>
        <p:nvSpPr>
          <p:cNvPr id="8" name="Shape 6"/>
          <p:cNvSpPr/>
          <p:nvPr/>
        </p:nvSpPr>
        <p:spPr>
          <a:xfrm>
            <a:off x="1005840" y="2244852"/>
            <a:ext cx="118872" cy="118872"/>
          </a:xfrm>
          <a:prstGeom prst="ellipse">
            <a:avLst/>
          </a:prstGeom>
          <a:solidFill>
            <a:srgbClr val="F0DB4F"/>
          </a:solidFill>
          <a:ln/>
        </p:spPr>
      </p:sp>
      <p:sp>
        <p:nvSpPr>
          <p:cNvPr id="9" name="Shape 7"/>
          <p:cNvSpPr/>
          <p:nvPr/>
        </p:nvSpPr>
        <p:spPr>
          <a:xfrm>
            <a:off x="1207008" y="2244852"/>
            <a:ext cx="118872" cy="118872"/>
          </a:xfrm>
          <a:prstGeom prst="ellipse">
            <a:avLst/>
          </a:prstGeom>
          <a:solidFill>
            <a:srgbClr val="27C93F"/>
          </a:solidFill>
          <a:ln/>
        </p:spPr>
      </p:sp>
      <p:sp>
        <p:nvSpPr>
          <p:cNvPr id="10" name="Text 8"/>
          <p:cNvSpPr/>
          <p:nvPr/>
        </p:nvSpPr>
        <p:spPr>
          <a:xfrm>
            <a:off x="1463040" y="2148840"/>
            <a:ext cx="98755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tracker-widget.js</a:t>
            </a:r>
            <a:endParaRPr lang="en-US" sz="1050" dirty="0"/>
          </a:p>
        </p:txBody>
      </p:sp>
      <p:sp>
        <p:nvSpPr>
          <p:cNvPr id="11" name="Text 9"/>
          <p:cNvSpPr/>
          <p:nvPr/>
        </p:nvSpPr>
        <p:spPr>
          <a:xfrm>
            <a:off x="868680" y="2569464"/>
            <a:ext cx="10424160" cy="3246120"/>
          </a:xfrm>
          <a:prstGeom prst="rect">
            <a:avLst/>
          </a:prstGeom>
          <a:noFill/>
          <a:ln/>
        </p:spPr>
        <p:txBody>
          <a:bodyPr wrap="square" lIns="0" tIns="0" rIns="0" bIns="0" rtlCol="0" anchor="t"/>
          <a:lstStyle/>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(window, document) {</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  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trackerId = </a:t>
            </a:r>
            <a:pPr indent="0" marL="0">
              <a:lnSpc>
                <a:spcPct val="122000"/>
              </a:lnSpc>
              <a:buNone/>
            </a:pPr>
            <a:r>
              <a:rPr lang="en-US" sz="1300" dirty="0">
                <a:solidFill>
                  <a:srgbClr val="7EC699"/>
                </a:solidFill>
                <a:latin typeface="Courier New" pitchFamily="34" charset="0"/>
                <a:ea typeface="Courier New" pitchFamily="34" charset="-122"/>
                <a:cs typeface="Courier New" pitchFamily="34" charset="-120"/>
              </a:rPr>
              <a:t>'UA-10428'</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private</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  let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queue = [];</a:t>
            </a:r>
            <a:endParaRPr lang="en-US" sz="1300" dirty="0"/>
          </a:p>
          <a:p>
            <a:pPr indent="0" marL="0">
              <a:lnSpc>
                <a:spcPct val="122000"/>
              </a:lnSpc>
              <a:buNone/>
            </a:pP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  function</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track(event)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queue.push(event);</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endParaRPr lang="en-US" sz="1300" dirty="0"/>
          </a:p>
          <a:p>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 only ONE global is exposed to the host site</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window.myTracker = { track };</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})(window, document);</a:t>
            </a:r>
            <a:endParaRPr lang="en-US" sz="1300" dirty="0"/>
          </a:p>
          <a:p>
            <a:pPr indent="0" marL="0">
              <a:lnSpc>
                <a:spcPct val="122000"/>
              </a:lnSpc>
              <a:buNone/>
            </a:pP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myTracker.track(</a:t>
            </a:r>
            <a:pPr indent="0" marL="0">
              <a:lnSpc>
                <a:spcPct val="122000"/>
              </a:lnSpc>
              <a:buNone/>
            </a:pPr>
            <a:r>
              <a:rPr lang="en-US" sz="1300" dirty="0">
                <a:solidFill>
                  <a:srgbClr val="7EC699"/>
                </a:solidFill>
                <a:latin typeface="Courier New" pitchFamily="34" charset="0"/>
                <a:ea typeface="Courier New" pitchFamily="34" charset="-122"/>
                <a:cs typeface="Courier New" pitchFamily="34" charset="-120"/>
              </a:rPr>
              <a:t>'page_view'</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p:txBody>
      </p:sp>
      <p:sp>
        <p:nvSpPr>
          <p:cNvPr id="12" name="Shape 10"/>
          <p:cNvSpPr/>
          <p:nvPr/>
        </p:nvSpPr>
        <p:spPr>
          <a:xfrm>
            <a:off x="640080" y="6080760"/>
            <a:ext cx="10881360" cy="502920"/>
          </a:xfrm>
          <a:prstGeom prst="roundRect">
            <a:avLst>
              <a:gd name="adj" fmla="val 10909"/>
            </a:avLst>
          </a:prstGeom>
          <a:solidFill>
            <a:srgbClr val="FFF6D9"/>
          </a:solidFill>
          <a:ln w="12700">
            <a:solidFill>
              <a:srgbClr val="F0DB4F"/>
            </a:solidFill>
            <a:prstDash val="solid"/>
          </a:ln>
        </p:spPr>
      </p:sp>
      <p:sp>
        <p:nvSpPr>
          <p:cNvPr id="13" name="Text 11"/>
          <p:cNvSpPr/>
          <p:nvPr/>
        </p:nvSpPr>
        <p:spPr>
          <a:xfrm>
            <a:off x="868680" y="6080760"/>
            <a:ext cx="10424160" cy="502920"/>
          </a:xfrm>
          <a:prstGeom prst="rect">
            <a:avLst/>
          </a:prstGeom>
          <a:noFill/>
          <a:ln/>
        </p:spPr>
        <p:txBody>
          <a:bodyPr wrap="square" lIns="0" tIns="0" rIns="0" bIns="0" rtlCol="0" anchor="ctr"/>
          <a:lstStyle/>
          <a:p>
            <a:pPr indent="0" marL="0">
              <a:buNone/>
            </a:pPr>
            <a:r>
              <a:rPr lang="en-US" sz="1250" b="1" dirty="0">
                <a:solidFill>
                  <a:srgbClr val="6B5900"/>
                </a:solidFill>
                <a:latin typeface="Calibri" pitchFamily="34" charset="0"/>
                <a:ea typeface="Calibri" pitchFamily="34" charset="-122"/>
                <a:cs typeface="Calibri" pitchFamily="34" charset="-120"/>
              </a:rPr>
              <a:t>Why it matters:  </a:t>
            </a:r>
            <a:pPr indent="0" marL="0">
              <a:buNone/>
            </a:pPr>
            <a:r>
              <a:rPr lang="en-US" sz="1250" i="1" dirty="0">
                <a:solidFill>
                  <a:srgbClr val="6B5900"/>
                </a:solidFill>
                <a:latin typeface="Calibri" pitchFamily="34" charset="0"/>
                <a:ea typeface="Calibri" pitchFamily="34" charset="-122"/>
                <a:cs typeface="Calibri" pitchFamily="34" charset="-120"/>
              </a:rPr>
              <a:t>This is literally how classic embeddable scripts (old Google Analytics, chat widgets) avoid breaking the host page's own variables.</a:t>
            </a:r>
            <a:endParaRPr lang="en-US" sz="1250" dirty="0"/>
          </a:p>
        </p:txBody>
      </p:sp>
      <p:sp>
        <p:nvSpPr>
          <p:cNvPr id="14" name="Text 12"/>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B08D00"/>
                </a:solidFill>
                <a:latin typeface="Calibri" pitchFamily="34" charset="0"/>
                <a:ea typeface="Calibri" pitchFamily="34" charset="-122"/>
                <a:cs typeface="Calibri" pitchFamily="34" charset="-120"/>
              </a:rPr>
              <a:t>04-HIGHER-ORDER-FUNCTIONS</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Higher-Order Functions</a:t>
            </a:r>
            <a:endParaRPr lang="en-US" sz="2800" dirty="0"/>
          </a:p>
        </p:txBody>
      </p:sp>
      <p:sp>
        <p:nvSpPr>
          <p:cNvPr id="4" name="Shape 2"/>
          <p:cNvSpPr/>
          <p:nvPr/>
        </p:nvSpPr>
        <p:spPr>
          <a:xfrm>
            <a:off x="640080" y="1554480"/>
            <a:ext cx="5029200" cy="1600200"/>
          </a:xfrm>
          <a:prstGeom prst="roundRect">
            <a:avLst>
              <a:gd name="adj" fmla="val 4571"/>
            </a:avLst>
          </a:prstGeom>
          <a:solidFill>
            <a:srgbClr val="FFFFFF"/>
          </a:solidFill>
          <a:ln w="12700">
            <a:solidFill>
              <a:srgbClr val="E3E5E8"/>
            </a:solidFill>
            <a:prstDash val="solid"/>
          </a:ln>
        </p:spPr>
      </p:sp>
      <p:sp>
        <p:nvSpPr>
          <p:cNvPr id="5" name="Text 3"/>
          <p:cNvSpPr/>
          <p:nvPr/>
        </p:nvSpPr>
        <p:spPr>
          <a:xfrm>
            <a:off x="868680" y="169164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868680" y="1947672"/>
            <a:ext cx="4572000" cy="1143000"/>
          </a:xfrm>
          <a:prstGeom prst="rect">
            <a:avLst/>
          </a:prstGeom>
          <a:noFill/>
          <a:ln/>
        </p:spPr>
        <p:txBody>
          <a:bodyPr wrap="square" lIns="0" tIns="0" rIns="0" bIns="0" rtlCol="0" anchor="t"/>
          <a:lstStyle/>
          <a:p>
            <a:pPr indent="0" marL="0">
              <a:buNone/>
            </a:pPr>
            <a:r>
              <a:rPr lang="en-US" sz="1350" dirty="0">
                <a:solidFill>
                  <a:srgbClr val="1B1F24"/>
                </a:solidFill>
                <a:latin typeface="Calibri" pitchFamily="34" charset="0"/>
                <a:ea typeface="Calibri" pitchFamily="34" charset="-122"/>
                <a:cs typeface="Calibri" pitchFamily="34" charset="-120"/>
              </a:rPr>
              <a:t>A function that takes another function as an argument, returns a function, or both. They let you treat behavior as data — passing logic around just like a value.</a:t>
            </a:r>
            <a:endParaRPr lang="en-US" sz="1350" dirty="0"/>
          </a:p>
        </p:txBody>
      </p:sp>
      <p:sp>
        <p:nvSpPr>
          <p:cNvPr id="7" name="Shape 5"/>
          <p:cNvSpPr/>
          <p:nvPr/>
        </p:nvSpPr>
        <p:spPr>
          <a:xfrm>
            <a:off x="640080" y="3337560"/>
            <a:ext cx="5029200" cy="2880360"/>
          </a:xfrm>
          <a:prstGeom prst="roundRect">
            <a:avLst>
              <a:gd name="adj" fmla="val 2540"/>
            </a:avLst>
          </a:prstGeom>
          <a:solidFill>
            <a:srgbClr val="FFFFFF"/>
          </a:solidFill>
          <a:ln w="12700">
            <a:solidFill>
              <a:srgbClr val="E3E5E8"/>
            </a:solidFill>
            <a:prstDash val="solid"/>
          </a:ln>
        </p:spPr>
      </p:sp>
      <p:sp>
        <p:nvSpPr>
          <p:cNvPr id="8" name="Text 6"/>
          <p:cNvSpPr/>
          <p:nvPr/>
        </p:nvSpPr>
        <p:spPr>
          <a:xfrm>
            <a:off x="868680" y="3474720"/>
            <a:ext cx="45720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KEY POINTS</a:t>
            </a:r>
            <a:endParaRPr lang="en-US" sz="1100" dirty="0"/>
          </a:p>
        </p:txBody>
      </p:sp>
      <p:sp>
        <p:nvSpPr>
          <p:cNvPr id="9" name="Text 7"/>
          <p:cNvSpPr/>
          <p:nvPr/>
        </p:nvSpPr>
        <p:spPr>
          <a:xfrm>
            <a:off x="868680" y="3749040"/>
            <a:ext cx="4617720" cy="237744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Takes a function as a parameter (e.g. array.map(fn))</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Or returns a new function (e.g. a function factory)</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map / filter / reduce are the most common built-in examples</a:t>
            </a:r>
            <a:endParaRPr lang="en-US" sz="1300" dirty="0"/>
          </a:p>
          <a:p>
            <a:pPr marL="177800" indent="-177800">
              <a:spcAft>
                <a:spcPts val="900"/>
              </a:spcAft>
              <a:buSzPct val="100000"/>
              <a:buChar char="•"/>
            </a:pPr>
            <a:r>
              <a:rPr lang="en-US" sz="1300" dirty="0">
                <a:solidFill>
                  <a:srgbClr val="1B1F24"/>
                </a:solidFill>
                <a:latin typeface="Calibri" pitchFamily="34" charset="0"/>
                <a:ea typeface="Calibri" pitchFamily="34" charset="-122"/>
                <a:cs typeface="Calibri" pitchFamily="34" charset="-120"/>
              </a:rPr>
              <a:t>Foundation for middleware, decorators, and functional pipelines</a:t>
            </a:r>
            <a:endParaRPr lang="en-US" sz="1300" dirty="0"/>
          </a:p>
        </p:txBody>
      </p:sp>
      <p:sp>
        <p:nvSpPr>
          <p:cNvPr id="10" name="Text 8"/>
          <p:cNvSpPr/>
          <p:nvPr/>
        </p:nvSpPr>
        <p:spPr>
          <a:xfrm>
            <a:off x="5943600" y="1417320"/>
            <a:ext cx="3657600" cy="274320"/>
          </a:xfrm>
          <a:prstGeom prst="rect">
            <a:avLst/>
          </a:prstGeom>
          <a:noFill/>
          <a:ln/>
        </p:spPr>
        <p:txBody>
          <a:bodyPr wrap="square" lIns="0" tIns="0" rIns="0" bIns="0" rtlCol="0" anchor="ctr"/>
          <a:lstStyle/>
          <a:p>
            <a:pPr indent="0" marL="0">
              <a:buNone/>
            </a:pPr>
            <a:r>
              <a:rPr lang="en-US" sz="1100" b="1" spc="150" kern="0" dirty="0">
                <a:solidFill>
                  <a:srgbClr val="6E7681"/>
                </a:solidFill>
                <a:latin typeface="Calibri" pitchFamily="34" charset="0"/>
                <a:ea typeface="Calibri" pitchFamily="34" charset="-122"/>
                <a:cs typeface="Calibri" pitchFamily="34" charset="-120"/>
              </a:rPr>
              <a:t>EXAMPLE 1</a:t>
            </a:r>
            <a:endParaRPr lang="en-US" sz="1100" dirty="0"/>
          </a:p>
        </p:txBody>
      </p:sp>
      <p:sp>
        <p:nvSpPr>
          <p:cNvPr id="11" name="Shape 9"/>
          <p:cNvSpPr/>
          <p:nvPr/>
        </p:nvSpPr>
        <p:spPr>
          <a:xfrm>
            <a:off x="5943600" y="1691640"/>
            <a:ext cx="5623560" cy="4526280"/>
          </a:xfrm>
          <a:prstGeom prst="roundRect">
            <a:avLst>
              <a:gd name="adj" fmla="val 1616"/>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12" name="Shape 10"/>
          <p:cNvSpPr/>
          <p:nvPr/>
        </p:nvSpPr>
        <p:spPr>
          <a:xfrm>
            <a:off x="5943600" y="1691640"/>
            <a:ext cx="5623560" cy="310896"/>
          </a:xfrm>
          <a:prstGeom prst="rect">
            <a:avLst/>
          </a:prstGeom>
          <a:solidFill>
            <a:srgbClr val="161B22"/>
          </a:solidFill>
          <a:ln/>
        </p:spPr>
      </p:sp>
      <p:sp>
        <p:nvSpPr>
          <p:cNvPr id="13" name="Shape 11"/>
          <p:cNvSpPr/>
          <p:nvPr/>
        </p:nvSpPr>
        <p:spPr>
          <a:xfrm>
            <a:off x="6108192" y="1787652"/>
            <a:ext cx="118872" cy="118872"/>
          </a:xfrm>
          <a:prstGeom prst="ellipse">
            <a:avLst/>
          </a:prstGeom>
          <a:solidFill>
            <a:srgbClr val="E06C75"/>
          </a:solidFill>
          <a:ln/>
        </p:spPr>
      </p:sp>
      <p:sp>
        <p:nvSpPr>
          <p:cNvPr id="14" name="Shape 12"/>
          <p:cNvSpPr/>
          <p:nvPr/>
        </p:nvSpPr>
        <p:spPr>
          <a:xfrm>
            <a:off x="6309360" y="1787652"/>
            <a:ext cx="118872" cy="118872"/>
          </a:xfrm>
          <a:prstGeom prst="ellipse">
            <a:avLst/>
          </a:prstGeom>
          <a:solidFill>
            <a:srgbClr val="F0DB4F"/>
          </a:solidFill>
          <a:ln/>
        </p:spPr>
      </p:sp>
      <p:sp>
        <p:nvSpPr>
          <p:cNvPr id="15" name="Shape 13"/>
          <p:cNvSpPr/>
          <p:nvPr/>
        </p:nvSpPr>
        <p:spPr>
          <a:xfrm>
            <a:off x="6510528" y="1787652"/>
            <a:ext cx="118872" cy="118872"/>
          </a:xfrm>
          <a:prstGeom prst="ellipse">
            <a:avLst/>
          </a:prstGeom>
          <a:solidFill>
            <a:srgbClr val="27C93F"/>
          </a:solidFill>
          <a:ln/>
        </p:spPr>
      </p:sp>
      <p:sp>
        <p:nvSpPr>
          <p:cNvPr id="16" name="Text 14"/>
          <p:cNvSpPr/>
          <p:nvPr/>
        </p:nvSpPr>
        <p:spPr>
          <a:xfrm>
            <a:off x="6766560" y="1691640"/>
            <a:ext cx="46177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day1.js</a:t>
            </a:r>
            <a:endParaRPr lang="en-US" sz="1050" dirty="0"/>
          </a:p>
        </p:txBody>
      </p:sp>
      <p:sp>
        <p:nvSpPr>
          <p:cNvPr id="17" name="Text 15"/>
          <p:cNvSpPr/>
          <p:nvPr/>
        </p:nvSpPr>
        <p:spPr>
          <a:xfrm>
            <a:off x="6172200" y="2112264"/>
            <a:ext cx="5166360" cy="3977640"/>
          </a:xfrm>
          <a:prstGeom prst="rect">
            <a:avLst/>
          </a:prstGeom>
          <a:noFill/>
          <a:ln/>
        </p:spPr>
        <p:txBody>
          <a:bodyPr wrap="square" lIns="0" tIns="0" rIns="0" bIns="0" rtlCol="0" anchor="t"/>
          <a:lstStyle/>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numbers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1, 2, 3, 4, 5</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doubled = numbers.map((n) =&gt; n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2</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evens = numbers.filter((n) =&gt; n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2</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30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 sum = numbers.reduce((t, n) =&gt; t + n, </a:t>
            </a:r>
            <a:pPr indent="0" marL="0">
              <a:lnSpc>
                <a:spcPct val="122000"/>
              </a:lnSpc>
              <a:buNone/>
            </a:pPr>
            <a:r>
              <a:rPr lang="en-US" sz="1300" dirty="0">
                <a:solidFill>
                  <a:srgbClr val="F0DB4F"/>
                </a:solidFill>
                <a:latin typeface="Courier New" pitchFamily="34" charset="0"/>
                <a:ea typeface="Courier New" pitchFamily="34" charset="-122"/>
                <a:cs typeface="Courier New" pitchFamily="34" charset="-120"/>
              </a:rPr>
              <a:t>0</a:t>
            </a:r>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doubled;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[2, 4, 6, 8, 10]</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evens;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[2, 4]</a:t>
            </a:r>
            <a:endParaRPr lang="en-US" sz="1300" dirty="0"/>
          </a:p>
          <a:p>
            <a:pPr indent="0" marL="0">
              <a:lnSpc>
                <a:spcPct val="122000"/>
              </a:lnSpc>
              <a:buNone/>
            </a:pPr>
            <a:r>
              <a:rPr lang="en-US" sz="1300" dirty="0">
                <a:solidFill>
                  <a:srgbClr val="E6E6E6"/>
                </a:solidFill>
                <a:latin typeface="Courier New" pitchFamily="34" charset="0"/>
                <a:ea typeface="Courier New" pitchFamily="34" charset="-122"/>
                <a:cs typeface="Courier New" pitchFamily="34" charset="-120"/>
              </a:rPr>
              <a:t>sum;      </a:t>
            </a:r>
            <a:pPr indent="0" marL="0">
              <a:lnSpc>
                <a:spcPct val="122000"/>
              </a:lnSpc>
              <a:buNone/>
            </a:pPr>
            <a:r>
              <a:rPr lang="en-US" sz="1300" i="1" dirty="0">
                <a:solidFill>
                  <a:srgbClr val="6E7681"/>
                </a:solidFill>
                <a:latin typeface="Courier New" pitchFamily="34" charset="0"/>
                <a:ea typeface="Courier New" pitchFamily="34" charset="-122"/>
                <a:cs typeface="Courier New" pitchFamily="34" charset="-120"/>
              </a:rPr>
              <a:t>// 15</a:t>
            </a:r>
            <a:endParaRPr lang="en-US" sz="1300" dirty="0"/>
          </a:p>
        </p:txBody>
      </p:sp>
      <p:sp>
        <p:nvSpPr>
          <p:cNvPr id="18" name="Text 16"/>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6C75"/>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640080" y="777240"/>
            <a:ext cx="10515600" cy="640080"/>
          </a:xfrm>
          <a:prstGeom prst="rect">
            <a:avLst/>
          </a:prstGeom>
          <a:noFill/>
          <a:ln/>
        </p:spPr>
        <p:txBody>
          <a:bodyPr wrap="square" lIns="0" tIns="0" rIns="0" bIns="0" rtlCol="0" anchor="ctr"/>
          <a:lstStyle/>
          <a:p>
            <a:pPr indent="0" marL="0">
              <a:buNone/>
            </a:pPr>
            <a:r>
              <a:rPr lang="en-US" sz="2800" b="1" dirty="0">
                <a:solidFill>
                  <a:srgbClr val="1B1F24"/>
                </a:solidFill>
                <a:latin typeface="Century Schoolbook" pitchFamily="34" charset="0"/>
                <a:ea typeface="Century Schoolbook" pitchFamily="34" charset="-122"/>
                <a:cs typeface="Century Schoolbook" pitchFamily="34" charset="-120"/>
              </a:rPr>
              <a:t>Example 2 — A Logging Wrapper for Any API Call</a:t>
            </a:r>
            <a:endParaRPr lang="en-US" sz="2800" dirty="0"/>
          </a:p>
        </p:txBody>
      </p:sp>
      <p:sp>
        <p:nvSpPr>
          <p:cNvPr id="4" name="Text 2"/>
          <p:cNvSpPr/>
          <p:nvPr/>
        </p:nvSpPr>
        <p:spPr>
          <a:xfrm>
            <a:off x="640080" y="1417320"/>
            <a:ext cx="10881360" cy="594360"/>
          </a:xfrm>
          <a:prstGeom prst="rect">
            <a:avLst/>
          </a:prstGeom>
          <a:noFill/>
          <a:ln/>
        </p:spPr>
        <p:txBody>
          <a:bodyPr wrap="square" lIns="0" tIns="0" rIns="0" bIns="0" rtlCol="0" anchor="ctr"/>
          <a:lstStyle/>
          <a:p>
            <a:pPr indent="0" marL="0">
              <a:buNone/>
            </a:pPr>
            <a:r>
              <a:rPr lang="en-US" sz="1350" dirty="0">
                <a:solidFill>
                  <a:srgbClr val="1B1F24"/>
                </a:solidFill>
                <a:latin typeface="Calibri" pitchFamily="34" charset="0"/>
                <a:ea typeface="Calibri" pitchFamily="34" charset="-122"/>
                <a:cs typeface="Calibri" pitchFamily="34" charset="-120"/>
              </a:rPr>
              <a:t>A higher-order function can wrap ANY function to add cross-cutting behavior — like timing or logging — without touching the original function's code. This is the same idea behind Express middleware.</a:t>
            </a:r>
            <a:endParaRPr lang="en-US" sz="1350" dirty="0"/>
          </a:p>
        </p:txBody>
      </p:sp>
      <p:sp>
        <p:nvSpPr>
          <p:cNvPr id="5" name="Shape 3"/>
          <p:cNvSpPr/>
          <p:nvPr/>
        </p:nvSpPr>
        <p:spPr>
          <a:xfrm>
            <a:off x="640080" y="2148840"/>
            <a:ext cx="10881360" cy="3794760"/>
          </a:xfrm>
          <a:prstGeom prst="roundRect">
            <a:avLst>
              <a:gd name="adj" fmla="val 1928"/>
            </a:avLst>
          </a:prstGeom>
          <a:solidFill>
            <a:srgbClr val="0D1117"/>
          </a:solidFill>
          <a:ln w="12700">
            <a:solidFill>
              <a:srgbClr val="161B22"/>
            </a:solidFill>
            <a:prstDash val="solid"/>
          </a:ln>
          <a:effectLst>
            <a:outerShdw sx="100000" sy="100000" kx="0" ky="0" algn="bl" rotWithShape="0" blurRad="101600" dist="38100" dir="5400000">
              <a:srgbClr val="000000">
                <a:alpha val="35000"/>
              </a:srgbClr>
            </a:outerShdw>
          </a:effectLst>
        </p:spPr>
      </p:sp>
      <p:sp>
        <p:nvSpPr>
          <p:cNvPr id="6" name="Shape 4"/>
          <p:cNvSpPr/>
          <p:nvPr/>
        </p:nvSpPr>
        <p:spPr>
          <a:xfrm>
            <a:off x="640080" y="2148840"/>
            <a:ext cx="10881360" cy="310896"/>
          </a:xfrm>
          <a:prstGeom prst="rect">
            <a:avLst/>
          </a:prstGeom>
          <a:solidFill>
            <a:srgbClr val="161B22"/>
          </a:solidFill>
          <a:ln/>
        </p:spPr>
      </p:sp>
      <p:sp>
        <p:nvSpPr>
          <p:cNvPr id="7" name="Shape 5"/>
          <p:cNvSpPr/>
          <p:nvPr/>
        </p:nvSpPr>
        <p:spPr>
          <a:xfrm>
            <a:off x="804672" y="2244852"/>
            <a:ext cx="118872" cy="118872"/>
          </a:xfrm>
          <a:prstGeom prst="ellipse">
            <a:avLst/>
          </a:prstGeom>
          <a:solidFill>
            <a:srgbClr val="E06C75"/>
          </a:solidFill>
          <a:ln/>
        </p:spPr>
      </p:sp>
      <p:sp>
        <p:nvSpPr>
          <p:cNvPr id="8" name="Shape 6"/>
          <p:cNvSpPr/>
          <p:nvPr/>
        </p:nvSpPr>
        <p:spPr>
          <a:xfrm>
            <a:off x="1005840" y="2244852"/>
            <a:ext cx="118872" cy="118872"/>
          </a:xfrm>
          <a:prstGeom prst="ellipse">
            <a:avLst/>
          </a:prstGeom>
          <a:solidFill>
            <a:srgbClr val="F0DB4F"/>
          </a:solidFill>
          <a:ln/>
        </p:spPr>
      </p:sp>
      <p:sp>
        <p:nvSpPr>
          <p:cNvPr id="9" name="Shape 7"/>
          <p:cNvSpPr/>
          <p:nvPr/>
        </p:nvSpPr>
        <p:spPr>
          <a:xfrm>
            <a:off x="1207008" y="2244852"/>
            <a:ext cx="118872" cy="118872"/>
          </a:xfrm>
          <a:prstGeom prst="ellipse">
            <a:avLst/>
          </a:prstGeom>
          <a:solidFill>
            <a:srgbClr val="27C93F"/>
          </a:solidFill>
          <a:ln/>
        </p:spPr>
      </p:sp>
      <p:sp>
        <p:nvSpPr>
          <p:cNvPr id="10" name="Text 8"/>
          <p:cNvSpPr/>
          <p:nvPr/>
        </p:nvSpPr>
        <p:spPr>
          <a:xfrm>
            <a:off x="1463040" y="2148840"/>
            <a:ext cx="9875520" cy="310896"/>
          </a:xfrm>
          <a:prstGeom prst="rect">
            <a:avLst/>
          </a:prstGeom>
          <a:noFill/>
          <a:ln/>
        </p:spPr>
        <p:txBody>
          <a:bodyPr wrap="square" lIns="0" tIns="0" rIns="0" bIns="0" rtlCol="0" anchor="ctr"/>
          <a:lstStyle/>
          <a:p>
            <a:pPr indent="0" marL="0">
              <a:buNone/>
            </a:pPr>
            <a:r>
              <a:rPr lang="en-US" sz="1050" dirty="0">
                <a:solidFill>
                  <a:srgbClr val="6E7681"/>
                </a:solidFill>
                <a:latin typeface="Courier New" pitchFamily="34" charset="0"/>
                <a:ea typeface="Courier New" pitchFamily="34" charset="-122"/>
                <a:cs typeface="Courier New" pitchFamily="34" charset="-120"/>
              </a:rPr>
              <a:t>with-logging.js</a:t>
            </a:r>
            <a:endParaRPr lang="en-US" sz="1050" dirty="0"/>
          </a:p>
        </p:txBody>
      </p:sp>
      <p:sp>
        <p:nvSpPr>
          <p:cNvPr id="11" name="Text 9"/>
          <p:cNvSpPr/>
          <p:nvPr/>
        </p:nvSpPr>
        <p:spPr>
          <a:xfrm>
            <a:off x="868680" y="2569464"/>
            <a:ext cx="10424160" cy="3246120"/>
          </a:xfrm>
          <a:prstGeom prst="rect">
            <a:avLst/>
          </a:prstGeom>
          <a:noFill/>
          <a:ln/>
        </p:spPr>
        <p:txBody>
          <a:bodyPr wrap="square" lIns="0" tIns="0" rIns="0" bIns="0" rtlCol="0" anchor="t"/>
          <a:lstStyle/>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withLogging(fn) {</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function (...args) {</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console.time(fn.name);</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result = fn(...args);</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console.timeEnd(fn.name);</a:t>
            </a: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    return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result;</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function</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fetchUser(id) { </a:t>
            </a:r>
            <a:pPr indent="0" marL="0">
              <a:lnSpc>
                <a:spcPct val="122000"/>
              </a:lnSpc>
              <a:buNone/>
            </a:pPr>
            <a:r>
              <a:rPr lang="en-US" sz="1250" i="1" dirty="0">
                <a:solidFill>
                  <a:srgbClr val="6E7681"/>
                </a:solidFill>
                <a:latin typeface="Courier New" pitchFamily="34" charset="0"/>
                <a:ea typeface="Courier New" pitchFamily="34" charset="-122"/>
                <a:cs typeface="Courier New" pitchFamily="34" charset="-120"/>
              </a:rPr>
              <a:t>/* ...api call... */</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endParaRPr lang="en-US" sz="1250" dirty="0"/>
          </a:p>
          <a:p>
            <a:pPr indent="0" marL="0">
              <a:lnSpc>
                <a:spcPct val="122000"/>
              </a:lnSpc>
              <a:buNone/>
            </a:pPr>
            <a:endParaRPr lang="en-US" sz="1250" dirty="0"/>
          </a:p>
          <a:p>
            <a:pPr indent="0" marL="0">
              <a:lnSpc>
                <a:spcPct val="122000"/>
              </a:lnSpc>
              <a:buNone/>
            </a:pPr>
            <a:r>
              <a:rPr lang="en-US" sz="1250" dirty="0">
                <a:solidFill>
                  <a:srgbClr val="61AFEF"/>
                </a:solidFill>
                <a:latin typeface="Courier New" pitchFamily="34" charset="0"/>
                <a:ea typeface="Courier New" pitchFamily="34" charset="-122"/>
                <a:cs typeface="Courier New" pitchFamily="34" charset="-120"/>
              </a:rPr>
              <a:t>const</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fetchUserSafe = withLogging(fetchUser);</a:t>
            </a:r>
            <a:endParaRPr lang="en-US" sz="1250" dirty="0"/>
          </a:p>
          <a:p>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fetchUserSafe(</a:t>
            </a:r>
            <a:pPr indent="0" marL="0">
              <a:lnSpc>
                <a:spcPct val="122000"/>
              </a:lnSpc>
              <a:buNone/>
            </a:pPr>
            <a:r>
              <a:rPr lang="en-US" sz="1250" dirty="0">
                <a:solidFill>
                  <a:srgbClr val="F0DB4F"/>
                </a:solidFill>
                <a:latin typeface="Courier New" pitchFamily="34" charset="0"/>
                <a:ea typeface="Courier New" pitchFamily="34" charset="-122"/>
                <a:cs typeface="Courier New" pitchFamily="34" charset="-120"/>
              </a:rPr>
              <a:t>42</a:t>
            </a:r>
            <a:pPr indent="0" marL="0">
              <a:lnSpc>
                <a:spcPct val="122000"/>
              </a:lnSpc>
              <a:buNone/>
            </a:pPr>
            <a:r>
              <a:rPr lang="en-US" sz="1250" dirty="0">
                <a:solidFill>
                  <a:srgbClr val="E6E6E6"/>
                </a:solidFill>
                <a:latin typeface="Courier New" pitchFamily="34" charset="0"/>
                <a:ea typeface="Courier New" pitchFamily="34" charset="-122"/>
                <a:cs typeface="Courier New" pitchFamily="34" charset="-120"/>
              </a:rPr>
              <a:t>);  </a:t>
            </a:r>
            <a:pPr indent="0" marL="0">
              <a:lnSpc>
                <a:spcPct val="122000"/>
              </a:lnSpc>
              <a:buNone/>
            </a:pPr>
            <a:r>
              <a:rPr lang="en-US" sz="1250" i="1" dirty="0">
                <a:solidFill>
                  <a:srgbClr val="7EC699"/>
                </a:solidFill>
                <a:latin typeface="Courier New" pitchFamily="34" charset="0"/>
                <a:ea typeface="Courier New" pitchFamily="34" charset="-122"/>
                <a:cs typeface="Courier New" pitchFamily="34" charset="-120"/>
              </a:rPr>
              <a:t>// same behavior, now timed</a:t>
            </a:r>
            <a:endParaRPr lang="en-US" sz="1250" dirty="0"/>
          </a:p>
        </p:txBody>
      </p:sp>
      <p:sp>
        <p:nvSpPr>
          <p:cNvPr id="12" name="Shape 10"/>
          <p:cNvSpPr/>
          <p:nvPr/>
        </p:nvSpPr>
        <p:spPr>
          <a:xfrm>
            <a:off x="640080" y="6080760"/>
            <a:ext cx="10881360" cy="502920"/>
          </a:xfrm>
          <a:prstGeom prst="roundRect">
            <a:avLst>
              <a:gd name="adj" fmla="val 10909"/>
            </a:avLst>
          </a:prstGeom>
          <a:solidFill>
            <a:srgbClr val="FFF6D9"/>
          </a:solidFill>
          <a:ln w="12700">
            <a:solidFill>
              <a:srgbClr val="F0DB4F"/>
            </a:solidFill>
            <a:prstDash val="solid"/>
          </a:ln>
        </p:spPr>
      </p:sp>
      <p:sp>
        <p:nvSpPr>
          <p:cNvPr id="13" name="Text 11"/>
          <p:cNvSpPr/>
          <p:nvPr/>
        </p:nvSpPr>
        <p:spPr>
          <a:xfrm>
            <a:off x="868680" y="6080760"/>
            <a:ext cx="10424160" cy="502920"/>
          </a:xfrm>
          <a:prstGeom prst="rect">
            <a:avLst/>
          </a:prstGeom>
          <a:noFill/>
          <a:ln/>
        </p:spPr>
        <p:txBody>
          <a:bodyPr wrap="square" lIns="0" tIns="0" rIns="0" bIns="0" rtlCol="0" anchor="ctr"/>
          <a:lstStyle/>
          <a:p>
            <a:pPr indent="0" marL="0">
              <a:buNone/>
            </a:pPr>
            <a:r>
              <a:rPr lang="en-US" sz="1250" b="1" dirty="0">
                <a:solidFill>
                  <a:srgbClr val="6B5900"/>
                </a:solidFill>
                <a:latin typeface="Calibri" pitchFamily="34" charset="0"/>
                <a:ea typeface="Calibri" pitchFamily="34" charset="-122"/>
                <a:cs typeface="Calibri" pitchFamily="34" charset="-120"/>
              </a:rPr>
              <a:t>Why it matters:  </a:t>
            </a:r>
            <a:pPr indent="0" marL="0">
              <a:buNone/>
            </a:pPr>
            <a:r>
              <a:rPr lang="en-US" sz="1250" i="1" dirty="0">
                <a:solidFill>
                  <a:srgbClr val="6B5900"/>
                </a:solidFill>
                <a:latin typeface="Calibri" pitchFamily="34" charset="0"/>
                <a:ea typeface="Calibri" pitchFamily="34" charset="-122"/>
                <a:cs typeface="Calibri" pitchFamily="34" charset="-120"/>
              </a:rPr>
              <a:t>This exact wrapping pattern powers Express middleware, React HOCs, and API client interceptors used in production apps every day.</a:t>
            </a:r>
            <a:endParaRPr lang="en-US" sz="1250" dirty="0"/>
          </a:p>
        </p:txBody>
      </p:sp>
      <p:sp>
        <p:nvSpPr>
          <p:cNvPr id="14" name="Text 12"/>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0DB4F"/>
          </a:solidFill>
          <a:ln/>
        </p:spPr>
      </p:sp>
      <p:sp>
        <p:nvSpPr>
          <p:cNvPr id="3" name="Text 1"/>
          <p:cNvSpPr/>
          <p:nvPr/>
        </p:nvSpPr>
        <p:spPr>
          <a:xfrm>
            <a:off x="914400" y="548640"/>
            <a:ext cx="5486400" cy="365760"/>
          </a:xfrm>
          <a:prstGeom prst="rect">
            <a:avLst/>
          </a:prstGeom>
          <a:noFill/>
          <a:ln/>
        </p:spPr>
        <p:txBody>
          <a:bodyPr wrap="square" lIns="0" tIns="0" rIns="0" bIns="0" rtlCol="0" anchor="ctr"/>
          <a:lstStyle/>
          <a:p>
            <a:pPr indent="0" marL="0">
              <a:buNone/>
            </a:pPr>
            <a:r>
              <a:rPr lang="en-US" sz="1400" b="1" spc="300" kern="0" dirty="0">
                <a:solidFill>
                  <a:srgbClr val="F0DB4F"/>
                </a:solidFill>
                <a:latin typeface="Calibri" pitchFamily="34" charset="0"/>
                <a:ea typeface="Calibri" pitchFamily="34" charset="-122"/>
                <a:cs typeface="Calibri" pitchFamily="34" charset="-120"/>
              </a:rPr>
              <a:t>RECAP</a:t>
            </a:r>
            <a:endParaRPr lang="en-US" sz="1400" dirty="0"/>
          </a:p>
        </p:txBody>
      </p:sp>
      <p:sp>
        <p:nvSpPr>
          <p:cNvPr id="4" name="Text 2"/>
          <p:cNvSpPr/>
          <p:nvPr/>
        </p:nvSpPr>
        <p:spPr>
          <a:xfrm>
            <a:off x="914400" y="91440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Day 1 in one glance</a:t>
            </a:r>
            <a:endParaRPr lang="en-US" sz="3000" dirty="0"/>
          </a:p>
        </p:txBody>
      </p:sp>
      <p:sp>
        <p:nvSpPr>
          <p:cNvPr id="5" name="Shape 3"/>
          <p:cNvSpPr/>
          <p:nvPr/>
        </p:nvSpPr>
        <p:spPr>
          <a:xfrm>
            <a:off x="914400" y="1828800"/>
            <a:ext cx="365760" cy="365760"/>
          </a:xfrm>
          <a:prstGeom prst="roundRect">
            <a:avLst>
              <a:gd name="adj" fmla="val 20000"/>
            </a:avLst>
          </a:prstGeom>
          <a:solidFill>
            <a:srgbClr val="1F2530"/>
          </a:solidFill>
          <a:ln w="12700">
            <a:solidFill>
              <a:srgbClr val="F0DB4F"/>
            </a:solidFill>
            <a:prstDash val="solid"/>
          </a:ln>
        </p:spPr>
      </p:sp>
      <p:sp>
        <p:nvSpPr>
          <p:cNvPr id="6" name="Text 4"/>
          <p:cNvSpPr/>
          <p:nvPr/>
        </p:nvSpPr>
        <p:spPr>
          <a:xfrm>
            <a:off x="914400" y="1828800"/>
            <a:ext cx="365760" cy="365760"/>
          </a:xfrm>
          <a:prstGeom prst="rect">
            <a:avLst/>
          </a:prstGeom>
          <a:noFill/>
          <a:ln/>
        </p:spPr>
        <p:txBody>
          <a:bodyPr wrap="square" lIns="0" tIns="0" rIns="0" bIns="0" rtlCol="0" anchor="ctr"/>
          <a:lstStyle/>
          <a:p>
            <a:pPr algn="ctr" indent="0" marL="0">
              <a:buNone/>
            </a:pPr>
            <a:r>
              <a:rPr lang="en-US" sz="1400" b="1" dirty="0">
                <a:solidFill>
                  <a:srgbClr val="F0DB4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463040" y="1810512"/>
            <a:ext cx="9418320" cy="457200"/>
          </a:xfrm>
          <a:prstGeom prst="rect">
            <a:avLst/>
          </a:prstGeom>
          <a:noFill/>
          <a:ln/>
        </p:spPr>
        <p:txBody>
          <a:bodyPr wrap="square" lIns="0" tIns="0" rIns="0" bIns="0" rtlCol="0" anchor="ctr"/>
          <a:lstStyle/>
          <a:p>
            <a:pPr indent="0" marL="0">
              <a:buNone/>
            </a:pPr>
            <a:r>
              <a:rPr lang="en-US" sz="1550" dirty="0">
                <a:solidFill>
                  <a:srgbClr val="E6E6E6"/>
                </a:solidFill>
                <a:latin typeface="Calibri" pitchFamily="34" charset="0"/>
                <a:ea typeface="Calibri" pitchFamily="34" charset="-122"/>
                <a:cs typeface="Calibri" pitchFamily="34" charset="-120"/>
              </a:rPr>
              <a:t>Functions: declarations hoist, expressions/arrows don't</a:t>
            </a:r>
            <a:endParaRPr lang="en-US" sz="1550" dirty="0"/>
          </a:p>
        </p:txBody>
      </p:sp>
      <p:sp>
        <p:nvSpPr>
          <p:cNvPr id="8" name="Shape 6"/>
          <p:cNvSpPr/>
          <p:nvPr/>
        </p:nvSpPr>
        <p:spPr>
          <a:xfrm>
            <a:off x="914400" y="2578608"/>
            <a:ext cx="365760" cy="365760"/>
          </a:xfrm>
          <a:prstGeom prst="roundRect">
            <a:avLst>
              <a:gd name="adj" fmla="val 20000"/>
            </a:avLst>
          </a:prstGeom>
          <a:solidFill>
            <a:srgbClr val="1F2530"/>
          </a:solidFill>
          <a:ln w="12700">
            <a:solidFill>
              <a:srgbClr val="F0DB4F"/>
            </a:solidFill>
            <a:prstDash val="solid"/>
          </a:ln>
        </p:spPr>
      </p:sp>
      <p:sp>
        <p:nvSpPr>
          <p:cNvPr id="9" name="Text 7"/>
          <p:cNvSpPr/>
          <p:nvPr/>
        </p:nvSpPr>
        <p:spPr>
          <a:xfrm>
            <a:off x="914400" y="2578608"/>
            <a:ext cx="365760" cy="365760"/>
          </a:xfrm>
          <a:prstGeom prst="rect">
            <a:avLst/>
          </a:prstGeom>
          <a:noFill/>
          <a:ln/>
        </p:spPr>
        <p:txBody>
          <a:bodyPr wrap="square" lIns="0" tIns="0" rIns="0" bIns="0" rtlCol="0" anchor="ctr"/>
          <a:lstStyle/>
          <a:p>
            <a:pPr algn="ctr" indent="0" marL="0">
              <a:buNone/>
            </a:pPr>
            <a:r>
              <a:rPr lang="en-US" sz="1400" b="1" dirty="0">
                <a:solidFill>
                  <a:srgbClr val="F0DB4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463040" y="2560320"/>
            <a:ext cx="9418320" cy="457200"/>
          </a:xfrm>
          <a:prstGeom prst="rect">
            <a:avLst/>
          </a:prstGeom>
          <a:noFill/>
          <a:ln/>
        </p:spPr>
        <p:txBody>
          <a:bodyPr wrap="square" lIns="0" tIns="0" rIns="0" bIns="0" rtlCol="0" anchor="ctr"/>
          <a:lstStyle/>
          <a:p>
            <a:pPr indent="0" marL="0">
              <a:buNone/>
            </a:pPr>
            <a:r>
              <a:rPr lang="en-US" sz="1550" dirty="0">
                <a:solidFill>
                  <a:srgbClr val="E6E6E6"/>
                </a:solidFill>
                <a:latin typeface="Calibri" pitchFamily="34" charset="0"/>
                <a:ea typeface="Calibri" pitchFamily="34" charset="-122"/>
                <a:cs typeface="Calibri" pitchFamily="34" charset="-120"/>
              </a:rPr>
              <a:t>Hoisting: var → undefined silently, let/const → loud TDZ error</a:t>
            </a:r>
            <a:endParaRPr lang="en-US" sz="1550" dirty="0"/>
          </a:p>
        </p:txBody>
      </p:sp>
      <p:sp>
        <p:nvSpPr>
          <p:cNvPr id="11" name="Shape 9"/>
          <p:cNvSpPr/>
          <p:nvPr/>
        </p:nvSpPr>
        <p:spPr>
          <a:xfrm>
            <a:off x="914400" y="3328416"/>
            <a:ext cx="365760" cy="365760"/>
          </a:xfrm>
          <a:prstGeom prst="roundRect">
            <a:avLst>
              <a:gd name="adj" fmla="val 20000"/>
            </a:avLst>
          </a:prstGeom>
          <a:solidFill>
            <a:srgbClr val="1F2530"/>
          </a:solidFill>
          <a:ln w="12700">
            <a:solidFill>
              <a:srgbClr val="F0DB4F"/>
            </a:solidFill>
            <a:prstDash val="solid"/>
          </a:ln>
        </p:spPr>
      </p:sp>
      <p:sp>
        <p:nvSpPr>
          <p:cNvPr id="12" name="Text 10"/>
          <p:cNvSpPr/>
          <p:nvPr/>
        </p:nvSpPr>
        <p:spPr>
          <a:xfrm>
            <a:off x="914400" y="3328416"/>
            <a:ext cx="365760" cy="365760"/>
          </a:xfrm>
          <a:prstGeom prst="rect">
            <a:avLst/>
          </a:prstGeom>
          <a:noFill/>
          <a:ln/>
        </p:spPr>
        <p:txBody>
          <a:bodyPr wrap="square" lIns="0" tIns="0" rIns="0" bIns="0" rtlCol="0" anchor="ctr"/>
          <a:lstStyle/>
          <a:p>
            <a:pPr algn="ctr" indent="0" marL="0">
              <a:buNone/>
            </a:pPr>
            <a:r>
              <a:rPr lang="en-US" sz="1400" b="1" dirty="0">
                <a:solidFill>
                  <a:srgbClr val="F0DB4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463040" y="3310128"/>
            <a:ext cx="9418320" cy="457200"/>
          </a:xfrm>
          <a:prstGeom prst="rect">
            <a:avLst/>
          </a:prstGeom>
          <a:noFill/>
          <a:ln/>
        </p:spPr>
        <p:txBody>
          <a:bodyPr wrap="square" lIns="0" tIns="0" rIns="0" bIns="0" rtlCol="0" anchor="ctr"/>
          <a:lstStyle/>
          <a:p>
            <a:pPr indent="0" marL="0">
              <a:buNone/>
            </a:pPr>
            <a:r>
              <a:rPr lang="en-US" sz="1550" dirty="0">
                <a:solidFill>
                  <a:srgbClr val="E6E6E6"/>
                </a:solidFill>
                <a:latin typeface="Calibri" pitchFamily="34" charset="0"/>
                <a:ea typeface="Calibri" pitchFamily="34" charset="-122"/>
                <a:cs typeface="Calibri" pitchFamily="34" charset="-120"/>
              </a:rPr>
              <a:t>Closures: inner functions remember outer variables — private state</a:t>
            </a:r>
            <a:endParaRPr lang="en-US" sz="1550" dirty="0"/>
          </a:p>
        </p:txBody>
      </p:sp>
      <p:sp>
        <p:nvSpPr>
          <p:cNvPr id="14" name="Shape 12"/>
          <p:cNvSpPr/>
          <p:nvPr/>
        </p:nvSpPr>
        <p:spPr>
          <a:xfrm>
            <a:off x="914400" y="4078224"/>
            <a:ext cx="365760" cy="365760"/>
          </a:xfrm>
          <a:prstGeom prst="roundRect">
            <a:avLst>
              <a:gd name="adj" fmla="val 20000"/>
            </a:avLst>
          </a:prstGeom>
          <a:solidFill>
            <a:srgbClr val="1F2530"/>
          </a:solidFill>
          <a:ln w="12700">
            <a:solidFill>
              <a:srgbClr val="F0DB4F"/>
            </a:solidFill>
            <a:prstDash val="solid"/>
          </a:ln>
        </p:spPr>
      </p:sp>
      <p:sp>
        <p:nvSpPr>
          <p:cNvPr id="15" name="Text 13"/>
          <p:cNvSpPr/>
          <p:nvPr/>
        </p:nvSpPr>
        <p:spPr>
          <a:xfrm>
            <a:off x="914400" y="4078224"/>
            <a:ext cx="365760" cy="365760"/>
          </a:xfrm>
          <a:prstGeom prst="rect">
            <a:avLst/>
          </a:prstGeom>
          <a:noFill/>
          <a:ln/>
        </p:spPr>
        <p:txBody>
          <a:bodyPr wrap="square" lIns="0" tIns="0" rIns="0" bIns="0" rtlCol="0" anchor="ctr"/>
          <a:lstStyle/>
          <a:p>
            <a:pPr algn="ctr" indent="0" marL="0">
              <a:buNone/>
            </a:pPr>
            <a:r>
              <a:rPr lang="en-US" sz="1400" b="1" dirty="0">
                <a:solidFill>
                  <a:srgbClr val="F0DB4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463040" y="4059936"/>
            <a:ext cx="9418320" cy="457200"/>
          </a:xfrm>
          <a:prstGeom prst="rect">
            <a:avLst/>
          </a:prstGeom>
          <a:noFill/>
          <a:ln/>
        </p:spPr>
        <p:txBody>
          <a:bodyPr wrap="square" lIns="0" tIns="0" rIns="0" bIns="0" rtlCol="0" anchor="ctr"/>
          <a:lstStyle/>
          <a:p>
            <a:pPr indent="0" marL="0">
              <a:buNone/>
            </a:pPr>
            <a:r>
              <a:rPr lang="en-US" sz="1550" dirty="0">
                <a:solidFill>
                  <a:srgbClr val="E6E6E6"/>
                </a:solidFill>
                <a:latin typeface="Calibri" pitchFamily="34" charset="0"/>
                <a:ea typeface="Calibri" pitchFamily="34" charset="-122"/>
                <a:cs typeface="Calibri" pitchFamily="34" charset="-120"/>
              </a:rPr>
              <a:t>IIFE: run-and-isolate pattern, precursor to ES Modules</a:t>
            </a:r>
            <a:endParaRPr lang="en-US" sz="1550" dirty="0"/>
          </a:p>
        </p:txBody>
      </p:sp>
      <p:sp>
        <p:nvSpPr>
          <p:cNvPr id="17" name="Shape 15"/>
          <p:cNvSpPr/>
          <p:nvPr/>
        </p:nvSpPr>
        <p:spPr>
          <a:xfrm>
            <a:off x="914400" y="4828032"/>
            <a:ext cx="365760" cy="365760"/>
          </a:xfrm>
          <a:prstGeom prst="roundRect">
            <a:avLst>
              <a:gd name="adj" fmla="val 20000"/>
            </a:avLst>
          </a:prstGeom>
          <a:solidFill>
            <a:srgbClr val="1F2530"/>
          </a:solidFill>
          <a:ln w="12700">
            <a:solidFill>
              <a:srgbClr val="F0DB4F"/>
            </a:solidFill>
            <a:prstDash val="solid"/>
          </a:ln>
        </p:spPr>
      </p:sp>
      <p:sp>
        <p:nvSpPr>
          <p:cNvPr id="18" name="Text 16"/>
          <p:cNvSpPr/>
          <p:nvPr/>
        </p:nvSpPr>
        <p:spPr>
          <a:xfrm>
            <a:off x="914400" y="4828032"/>
            <a:ext cx="365760" cy="365760"/>
          </a:xfrm>
          <a:prstGeom prst="rect">
            <a:avLst/>
          </a:prstGeom>
          <a:noFill/>
          <a:ln/>
        </p:spPr>
        <p:txBody>
          <a:bodyPr wrap="square" lIns="0" tIns="0" rIns="0" bIns="0" rtlCol="0" anchor="ctr"/>
          <a:lstStyle/>
          <a:p>
            <a:pPr algn="ctr" indent="0" marL="0">
              <a:buNone/>
            </a:pPr>
            <a:r>
              <a:rPr lang="en-US" sz="1400" b="1" dirty="0">
                <a:solidFill>
                  <a:srgbClr val="F0DB4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463040" y="4809744"/>
            <a:ext cx="9418320" cy="457200"/>
          </a:xfrm>
          <a:prstGeom prst="rect">
            <a:avLst/>
          </a:prstGeom>
          <a:noFill/>
          <a:ln/>
        </p:spPr>
        <p:txBody>
          <a:bodyPr wrap="square" lIns="0" tIns="0" rIns="0" bIns="0" rtlCol="0" anchor="ctr"/>
          <a:lstStyle/>
          <a:p>
            <a:pPr indent="0" marL="0">
              <a:buNone/>
            </a:pPr>
            <a:r>
              <a:rPr lang="en-US" sz="1550" dirty="0">
                <a:solidFill>
                  <a:srgbClr val="E6E6E6"/>
                </a:solidFill>
                <a:latin typeface="Calibri" pitchFamily="34" charset="0"/>
                <a:ea typeface="Calibri" pitchFamily="34" charset="-122"/>
                <a:cs typeface="Calibri" pitchFamily="34" charset="-120"/>
              </a:rPr>
              <a:t>Higher-order functions: pass or return functions as data</a:t>
            </a:r>
            <a:endParaRPr lang="en-US" sz="1550" dirty="0"/>
          </a:p>
        </p:txBody>
      </p:sp>
      <p:sp>
        <p:nvSpPr>
          <p:cNvPr id="20" name="Text 18"/>
          <p:cNvSpPr/>
          <p:nvPr/>
        </p:nvSpPr>
        <p:spPr>
          <a:xfrm>
            <a:off x="914400" y="5715000"/>
            <a:ext cx="9784080" cy="548640"/>
          </a:xfrm>
          <a:prstGeom prst="rect">
            <a:avLst/>
          </a:prstGeom>
          <a:noFill/>
          <a:ln/>
        </p:spPr>
        <p:txBody>
          <a:bodyPr wrap="square" lIns="0" tIns="0" rIns="0" bIns="0" rtlCol="0" anchor="ctr"/>
          <a:lstStyle/>
          <a:p>
            <a:pPr indent="0" marL="0">
              <a:buNone/>
            </a:pPr>
            <a:r>
              <a:rPr lang="en-US" sz="1300" i="1" dirty="0">
                <a:solidFill>
                  <a:srgbClr val="9AA1AB"/>
                </a:solidFill>
                <a:latin typeface="Calibri" pitchFamily="34" charset="0"/>
                <a:ea typeface="Calibri" pitchFamily="34" charset="-122"/>
                <a:cs typeface="Calibri" pitchFamily="34" charset="-120"/>
              </a:rPr>
              <a:t>Practice: build an ID generator with closures, fix the var-loop bug, and write your own repeat(n, fn) higher-order function.</a:t>
            </a:r>
            <a:endParaRPr lang="en-US" sz="1300" dirty="0"/>
          </a:p>
        </p:txBody>
      </p:sp>
      <p:sp>
        <p:nvSpPr>
          <p:cNvPr id="21" name="Text 19"/>
          <p:cNvSpPr/>
          <p:nvPr/>
        </p:nvSpPr>
        <p:spPr>
          <a:xfrm>
            <a:off x="11365992" y="6355080"/>
            <a:ext cx="548640" cy="320040"/>
          </a:xfrm>
          <a:prstGeom prst="rect">
            <a:avLst/>
          </a:prstGeom>
          <a:noFill/>
          <a:ln/>
        </p:spPr>
        <p:txBody>
          <a:bodyPr wrap="square" lIns="0" tIns="0" rIns="0" bIns="0" rtlCol="0" anchor="ctr"/>
          <a:lstStyle/>
          <a:p>
            <a:pPr algn="r" indent="0" marL="0">
              <a:buNone/>
            </a:pPr>
            <a:r>
              <a:rPr lang="en-US" sz="1100" dirty="0">
                <a:solidFill>
                  <a:srgbClr val="6E7681"/>
                </a:solidFill>
                <a:latin typeface="Courier New" pitchFamily="34" charset="0"/>
                <a:ea typeface="Courier New" pitchFamily="34" charset="-122"/>
                <a:cs typeface="Courier New"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2026-07-14T09:03:22Z</dcterms:created>
  <dcterms:modified xsi:type="dcterms:W3CDTF">2026-07-14T09:03:22Z</dcterms:modified>
</cp:coreProperties>
</file>